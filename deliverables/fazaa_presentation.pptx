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presenting FAZA'A, a road assistance service built around one idea: when your car stops, your trip should not. We designed the operating model and built a working bilingual mobile web app for it. I am Nawaf, and with me are Abdulaziz, Faris, Mohammed and Hatim. Each of us will take part of the story.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the last time a car broke down on the road between Riyadh and Qassim. The tow is only the start. Then comes finding a workshop you trust, waiting on quotes, and calling for updates. Our own estimate is that a driver can lose three to seven days of normal life to a single incident. That gap is what we set out to 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promise fits in one line: one request, and we handle the rest. The specialist brings a replacement car, so the customer leaves within minutes. The same specialist stays with the damaged car, moves it to one of our partner workshops, and we manage the repair. When it is ready, we swap cars back in a single visit.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workflow using one real sample request from our app, number FZ-26-0417 in Riyadh. The specialist leaves at 14:05 and hands over the replacement car twenty-six minutes later. The car reaches the workshop by 15:12, repair and inspection finish the next morning, and handover happens on day three. The customer sees each step change 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matters because breakdowns do not stay in Riyadh. We placed one hundred twenty replacement cars and twenty-four partner workshops across all thirteen regions. Riyadh, Makkah and the Eastern Province carry the largest share, shown in red. Smaller regions such as Al-Baha and Al-Jouf get fewer cars and a longer arrival target, which keeps the fleet affordable.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the app for someone standing next to a broken car, maybe in the heat, maybe stressed. That is why the buttons are big, the SOS button pulses, and every tap gives a short sound. It switches between Arabic and English instantly. Behind it is Supabase PostgreSQL, but the app still runs on seeded local data if the connection drops.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capture of the running app, Arabic on the left and English on the right. The customer can request help with one tap, because region, incident type and car are already filled with sensible defaults. If they want to change something, every option is a large card or a bottom sheet, never a small dropdown.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request is sent, the customer lands on the tracker. Five steps run from the specialist leaving to the final handover, each with a Riyadh-time stamp. In the demo, Simulate Next Step moves the request forward, plays a short tone and writes the change to the database, so a second phone watching the same request updates too.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are assumptions for the course, not quotes from suppliers. Running the network costs about nine hundred eighty-two thousand riyals a month, and staff and fleet leasing are the two biggest lines. Revenue comes from three tiers: pay per call, a monthly Plus subscription, and an annual price per vehicle for business fleets, which gives the steadiest income.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take out your phones and scan the code. The app opens straight in the browser with no download, and you can add it to your home screen. Try a request, switch the language, and press Simulate Next Step to follow a car to the workshop. Thank you for listening. We are happy to take your questions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316"/>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22960"/>
            <a:ext cx="6858000" cy="36576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UNIVERSITY PROJECT  |  2026</a:t>
            </a:r>
          </a:p>
        </p:txBody>
      </p:sp>
      <p:sp>
        <p:nvSpPr>
          <p:cNvPr id="4" name="TextBox 3"/>
          <p:cNvSpPr txBox="1"/>
          <p:nvPr/>
        </p:nvSpPr>
        <p:spPr>
          <a:xfrm>
            <a:off x="731520" y="1280160"/>
            <a:ext cx="6949440" cy="1828800"/>
          </a:xfrm>
          <a:prstGeom prst="rect">
            <a:avLst/>
          </a:prstGeom>
          <a:noFill/>
        </p:spPr>
        <p:txBody>
          <a:bodyPr wrap="square" lIns="0" rIns="0" tIns="0" bIns="0" anchor="t">
            <a:noAutofit/>
          </a:bodyPr>
          <a:lstStyle/>
          <a:p>
            <a:pPr algn="l">
              <a:lnSpc>
                <a:spcPct val="100000"/>
              </a:lnSpc>
            </a:pPr>
            <a:r>
              <a:rPr sz="5000" b="1">
                <a:solidFill>
                  <a:srgbClr val="FFFFFF"/>
                </a:solidFill>
                <a:latin typeface="IBM Plex Sans"/>
              </a:rPr>
              <a:t>FAZA'A</a:t>
            </a:r>
          </a:p>
          <a:p>
            <a:pPr algn="l">
              <a:lnSpc>
                <a:spcPct val="100000"/>
              </a:lnSpc>
            </a:pPr>
            <a:r>
              <a:rPr sz="3000" b="1">
                <a:solidFill>
                  <a:srgbClr val="E5E7EB"/>
                </a:solidFill>
                <a:latin typeface="IBM Plex Sans"/>
              </a:rPr>
              <a:t>Road Assistance &amp; Car Delivery</a:t>
            </a:r>
          </a:p>
        </p:txBody>
      </p:sp>
      <p:sp>
        <p:nvSpPr>
          <p:cNvPr id="5" name="TextBox 4"/>
          <p:cNvSpPr txBox="1"/>
          <p:nvPr/>
        </p:nvSpPr>
        <p:spPr>
          <a:xfrm>
            <a:off x="731520" y="3154680"/>
            <a:ext cx="6583680" cy="731520"/>
          </a:xfrm>
          <a:prstGeom prst="rect">
            <a:avLst/>
          </a:prstGeom>
          <a:noFill/>
        </p:spPr>
        <p:txBody>
          <a:bodyPr wrap="square" lIns="0" rIns="0" tIns="0" bIns="0" anchor="t">
            <a:noAutofit/>
          </a:bodyPr>
          <a:lstStyle/>
          <a:p>
            <a:pPr algn="l">
              <a:lnSpc>
                <a:spcPct val="110000"/>
              </a:lnSpc>
            </a:pPr>
            <a:r>
              <a:rPr sz="1600" b="0">
                <a:solidFill>
                  <a:srgbClr val="E5E7EB"/>
                </a:solidFill>
                <a:latin typeface="IBM Plex Sans"/>
              </a:rPr>
              <a:t>A replacement car on the spot, and your damaged car handled until it is repaired, across all 13 regions of Saudi Arabia.</a:t>
            </a:r>
          </a:p>
        </p:txBody>
      </p:sp>
      <p:sp>
        <p:nvSpPr>
          <p:cNvPr id="6" name="Rectangle 5"/>
          <p:cNvSpPr/>
          <p:nvPr/>
        </p:nvSpPr>
        <p:spPr>
          <a:xfrm>
            <a:off x="731520" y="4160520"/>
            <a:ext cx="6583680" cy="18288"/>
          </a:xfrm>
          <a:prstGeom prst="rect">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97680"/>
            <a:ext cx="3657600" cy="274320"/>
          </a:xfrm>
          <a:prstGeom prst="rect">
            <a:avLst/>
          </a:prstGeom>
          <a:noFill/>
        </p:spPr>
        <p:txBody>
          <a:bodyPr wrap="square" lIns="0" rIns="0" tIns="0" bIns="0" anchor="t">
            <a:noAutofit/>
          </a:bodyPr>
          <a:lstStyle/>
          <a:p>
            <a:pPr algn="l">
              <a:lnSpc>
                <a:spcPct val="110000"/>
              </a:lnSpc>
            </a:pPr>
            <a:r>
              <a:rPr sz="1200" b="1">
                <a:solidFill>
                  <a:srgbClr val="9E1B20"/>
                </a:solidFill>
                <a:latin typeface="IBM Plex Sans"/>
              </a:rPr>
              <a:t>PROJECT TEAM</a:t>
            </a:r>
          </a:p>
        </p:txBody>
      </p:sp>
      <p:sp>
        <p:nvSpPr>
          <p:cNvPr id="8" name="TextBox 7"/>
          <p:cNvSpPr txBox="1"/>
          <p:nvPr/>
        </p:nvSpPr>
        <p:spPr>
          <a:xfrm>
            <a:off x="731520" y="4617720"/>
            <a:ext cx="3840480" cy="292608"/>
          </a:xfrm>
          <a:prstGeom prst="rect">
            <a:avLst/>
          </a:prstGeom>
          <a:noFill/>
        </p:spPr>
        <p:txBody>
          <a:bodyPr wrap="square" lIns="0" rIns="0" tIns="0" bIns="0" anchor="t">
            <a:noAutofit/>
          </a:bodyPr>
          <a:lstStyle/>
          <a:p>
            <a:pPr algn="l">
              <a:lnSpc>
                <a:spcPct val="110000"/>
              </a:lnSpc>
            </a:pPr>
            <a:r>
              <a:rPr sz="1500" b="0">
                <a:solidFill>
                  <a:srgbClr val="FFFFFF"/>
                </a:solidFill>
                <a:latin typeface="IBM Plex Sans"/>
              </a:rPr>
              <a:t>Nawaf Fahad Alharbi</a:t>
            </a:r>
          </a:p>
        </p:txBody>
      </p:sp>
      <p:sp>
        <p:nvSpPr>
          <p:cNvPr id="9" name="TextBox 8"/>
          <p:cNvSpPr txBox="1"/>
          <p:nvPr/>
        </p:nvSpPr>
        <p:spPr>
          <a:xfrm>
            <a:off x="4572000" y="4617720"/>
            <a:ext cx="1463040" cy="292608"/>
          </a:xfrm>
          <a:prstGeom prst="rect">
            <a:avLst/>
          </a:prstGeom>
          <a:noFill/>
        </p:spPr>
        <p:txBody>
          <a:bodyPr wrap="square" lIns="0" rIns="0" tIns="0" bIns="0" anchor="t">
            <a:noAutofit/>
          </a:bodyPr>
          <a:lstStyle/>
          <a:p>
            <a:pPr algn="l">
              <a:lnSpc>
                <a:spcPct val="110000"/>
              </a:lnSpc>
            </a:pPr>
            <a:r>
              <a:rPr sz="1500" b="1">
                <a:solidFill>
                  <a:srgbClr val="E5E7EB"/>
                </a:solidFill>
                <a:latin typeface="IBM Plex Sans"/>
              </a:rPr>
              <a:t>170490</a:t>
            </a:r>
          </a:p>
        </p:txBody>
      </p:sp>
      <p:sp>
        <p:nvSpPr>
          <p:cNvPr id="10" name="TextBox 9"/>
          <p:cNvSpPr txBox="1"/>
          <p:nvPr/>
        </p:nvSpPr>
        <p:spPr>
          <a:xfrm>
            <a:off x="731520" y="4946904"/>
            <a:ext cx="3840480" cy="292608"/>
          </a:xfrm>
          <a:prstGeom prst="rect">
            <a:avLst/>
          </a:prstGeom>
          <a:noFill/>
        </p:spPr>
        <p:txBody>
          <a:bodyPr wrap="square" lIns="0" rIns="0" tIns="0" bIns="0" anchor="t">
            <a:noAutofit/>
          </a:bodyPr>
          <a:lstStyle/>
          <a:p>
            <a:pPr algn="l">
              <a:lnSpc>
                <a:spcPct val="110000"/>
              </a:lnSpc>
            </a:pPr>
            <a:r>
              <a:rPr sz="1500" b="0">
                <a:solidFill>
                  <a:srgbClr val="FFFFFF"/>
                </a:solidFill>
                <a:latin typeface="IBM Plex Sans"/>
              </a:rPr>
              <a:t>Abdulaziz Alfarraj</a:t>
            </a:r>
          </a:p>
        </p:txBody>
      </p:sp>
      <p:sp>
        <p:nvSpPr>
          <p:cNvPr id="11" name="TextBox 10"/>
          <p:cNvSpPr txBox="1"/>
          <p:nvPr/>
        </p:nvSpPr>
        <p:spPr>
          <a:xfrm>
            <a:off x="4572000" y="4946904"/>
            <a:ext cx="1463040" cy="292608"/>
          </a:xfrm>
          <a:prstGeom prst="rect">
            <a:avLst/>
          </a:prstGeom>
          <a:noFill/>
        </p:spPr>
        <p:txBody>
          <a:bodyPr wrap="square" lIns="0" rIns="0" tIns="0" bIns="0" anchor="t">
            <a:noAutofit/>
          </a:bodyPr>
          <a:lstStyle/>
          <a:p>
            <a:pPr algn="l">
              <a:lnSpc>
                <a:spcPct val="110000"/>
              </a:lnSpc>
            </a:pPr>
            <a:r>
              <a:rPr sz="1500" b="1">
                <a:solidFill>
                  <a:srgbClr val="E5E7EB"/>
                </a:solidFill>
                <a:latin typeface="IBM Plex Sans"/>
              </a:rPr>
              <a:t>170467</a:t>
            </a:r>
          </a:p>
        </p:txBody>
      </p:sp>
      <p:sp>
        <p:nvSpPr>
          <p:cNvPr id="12" name="TextBox 11"/>
          <p:cNvSpPr txBox="1"/>
          <p:nvPr/>
        </p:nvSpPr>
        <p:spPr>
          <a:xfrm>
            <a:off x="731520" y="5276088"/>
            <a:ext cx="3840480" cy="292608"/>
          </a:xfrm>
          <a:prstGeom prst="rect">
            <a:avLst/>
          </a:prstGeom>
          <a:noFill/>
        </p:spPr>
        <p:txBody>
          <a:bodyPr wrap="square" lIns="0" rIns="0" tIns="0" bIns="0" anchor="t">
            <a:noAutofit/>
          </a:bodyPr>
          <a:lstStyle/>
          <a:p>
            <a:pPr algn="l">
              <a:lnSpc>
                <a:spcPct val="110000"/>
              </a:lnSpc>
            </a:pPr>
            <a:r>
              <a:rPr sz="1500" b="0">
                <a:solidFill>
                  <a:srgbClr val="FFFFFF"/>
                </a:solidFill>
                <a:latin typeface="IBM Plex Sans"/>
              </a:rPr>
              <a:t>Faris Alsuhaibani</a:t>
            </a:r>
          </a:p>
        </p:txBody>
      </p:sp>
      <p:sp>
        <p:nvSpPr>
          <p:cNvPr id="13" name="TextBox 12"/>
          <p:cNvSpPr txBox="1"/>
          <p:nvPr/>
        </p:nvSpPr>
        <p:spPr>
          <a:xfrm>
            <a:off x="4572000" y="5276088"/>
            <a:ext cx="1463040" cy="292608"/>
          </a:xfrm>
          <a:prstGeom prst="rect">
            <a:avLst/>
          </a:prstGeom>
          <a:noFill/>
        </p:spPr>
        <p:txBody>
          <a:bodyPr wrap="square" lIns="0" rIns="0" tIns="0" bIns="0" anchor="t">
            <a:noAutofit/>
          </a:bodyPr>
          <a:lstStyle/>
          <a:p>
            <a:pPr algn="l">
              <a:lnSpc>
                <a:spcPct val="110000"/>
              </a:lnSpc>
            </a:pPr>
            <a:r>
              <a:rPr sz="1500" b="1">
                <a:solidFill>
                  <a:srgbClr val="E5E7EB"/>
                </a:solidFill>
                <a:latin typeface="IBM Plex Sans"/>
              </a:rPr>
              <a:t>170426</a:t>
            </a:r>
          </a:p>
        </p:txBody>
      </p:sp>
      <p:sp>
        <p:nvSpPr>
          <p:cNvPr id="14" name="TextBox 13"/>
          <p:cNvSpPr txBox="1"/>
          <p:nvPr/>
        </p:nvSpPr>
        <p:spPr>
          <a:xfrm>
            <a:off x="731520" y="5605272"/>
            <a:ext cx="3840480" cy="292608"/>
          </a:xfrm>
          <a:prstGeom prst="rect">
            <a:avLst/>
          </a:prstGeom>
          <a:noFill/>
        </p:spPr>
        <p:txBody>
          <a:bodyPr wrap="square" lIns="0" rIns="0" tIns="0" bIns="0" anchor="t">
            <a:noAutofit/>
          </a:bodyPr>
          <a:lstStyle/>
          <a:p>
            <a:pPr algn="l">
              <a:lnSpc>
                <a:spcPct val="110000"/>
              </a:lnSpc>
            </a:pPr>
            <a:r>
              <a:rPr sz="1500" b="0">
                <a:solidFill>
                  <a:srgbClr val="FFFFFF"/>
                </a:solidFill>
                <a:latin typeface="IBM Plex Sans"/>
              </a:rPr>
              <a:t>Mohammed Aljuryban</a:t>
            </a:r>
          </a:p>
        </p:txBody>
      </p:sp>
      <p:sp>
        <p:nvSpPr>
          <p:cNvPr id="15" name="TextBox 14"/>
          <p:cNvSpPr txBox="1"/>
          <p:nvPr/>
        </p:nvSpPr>
        <p:spPr>
          <a:xfrm>
            <a:off x="4572000" y="5605272"/>
            <a:ext cx="1463040" cy="292608"/>
          </a:xfrm>
          <a:prstGeom prst="rect">
            <a:avLst/>
          </a:prstGeom>
          <a:noFill/>
        </p:spPr>
        <p:txBody>
          <a:bodyPr wrap="square" lIns="0" rIns="0" tIns="0" bIns="0" anchor="t">
            <a:noAutofit/>
          </a:bodyPr>
          <a:lstStyle/>
          <a:p>
            <a:pPr algn="l">
              <a:lnSpc>
                <a:spcPct val="110000"/>
              </a:lnSpc>
            </a:pPr>
            <a:r>
              <a:rPr sz="1500" b="1">
                <a:solidFill>
                  <a:srgbClr val="E5E7EB"/>
                </a:solidFill>
                <a:latin typeface="IBM Plex Sans"/>
              </a:rPr>
              <a:t>171623</a:t>
            </a:r>
          </a:p>
        </p:txBody>
      </p:sp>
      <p:sp>
        <p:nvSpPr>
          <p:cNvPr id="16" name="TextBox 15"/>
          <p:cNvSpPr txBox="1"/>
          <p:nvPr/>
        </p:nvSpPr>
        <p:spPr>
          <a:xfrm>
            <a:off x="731520" y="5934456"/>
            <a:ext cx="3840480" cy="292608"/>
          </a:xfrm>
          <a:prstGeom prst="rect">
            <a:avLst/>
          </a:prstGeom>
          <a:noFill/>
        </p:spPr>
        <p:txBody>
          <a:bodyPr wrap="square" lIns="0" rIns="0" tIns="0" bIns="0" anchor="t">
            <a:noAutofit/>
          </a:bodyPr>
          <a:lstStyle/>
          <a:p>
            <a:pPr algn="l">
              <a:lnSpc>
                <a:spcPct val="110000"/>
              </a:lnSpc>
            </a:pPr>
            <a:r>
              <a:rPr sz="1500" b="0">
                <a:solidFill>
                  <a:srgbClr val="FFFFFF"/>
                </a:solidFill>
                <a:latin typeface="IBM Plex Sans"/>
              </a:rPr>
              <a:t>Hatim Alsubaie</a:t>
            </a:r>
          </a:p>
        </p:txBody>
      </p:sp>
      <p:sp>
        <p:nvSpPr>
          <p:cNvPr id="17" name="TextBox 16"/>
          <p:cNvSpPr txBox="1"/>
          <p:nvPr/>
        </p:nvSpPr>
        <p:spPr>
          <a:xfrm>
            <a:off x="4572000" y="5934456"/>
            <a:ext cx="1463040" cy="292608"/>
          </a:xfrm>
          <a:prstGeom prst="rect">
            <a:avLst/>
          </a:prstGeom>
          <a:noFill/>
        </p:spPr>
        <p:txBody>
          <a:bodyPr wrap="square" lIns="0" rIns="0" tIns="0" bIns="0" anchor="t">
            <a:noAutofit/>
          </a:bodyPr>
          <a:lstStyle/>
          <a:p>
            <a:pPr algn="l">
              <a:lnSpc>
                <a:spcPct val="110000"/>
              </a:lnSpc>
            </a:pPr>
            <a:r>
              <a:rPr sz="1500" b="1">
                <a:solidFill>
                  <a:srgbClr val="E5E7EB"/>
                </a:solidFill>
                <a:latin typeface="IBM Plex Sans"/>
              </a:rPr>
              <a:t>170503</a:t>
            </a:r>
          </a:p>
        </p:txBody>
      </p:sp>
      <p:sp>
        <p:nvSpPr>
          <p:cNvPr id="18" name="Rounded Rectangle 17"/>
          <p:cNvSpPr/>
          <p:nvPr/>
        </p:nvSpPr>
        <p:spPr>
          <a:xfrm>
            <a:off x="7635240" y="1463040"/>
            <a:ext cx="3931920" cy="2743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ogo_full.png"/>
          <p:cNvPicPr>
            <a:picLocks noChangeAspect="1"/>
          </p:cNvPicPr>
          <p:nvPr/>
        </p:nvPicPr>
        <p:blipFill>
          <a:blip r:embed="rId2"/>
          <a:stretch>
            <a:fillRect/>
          </a:stretch>
        </p:blipFill>
        <p:spPr>
          <a:xfrm>
            <a:off x="7818120" y="1627632"/>
            <a:ext cx="3566160" cy="2107568"/>
          </a:xfrm>
          <a:prstGeom prst="rect">
            <a:avLst/>
          </a:prstGeom>
        </p:spPr>
      </p:pic>
      <p:sp>
        <p:nvSpPr>
          <p:cNvPr id="20" name="TextBox 19"/>
          <p:cNvSpPr txBox="1"/>
          <p:nvPr/>
        </p:nvSpPr>
        <p:spPr>
          <a:xfrm>
            <a:off x="11155680" y="6355080"/>
            <a:ext cx="731520" cy="274320"/>
          </a:xfrm>
          <a:prstGeom prst="rect">
            <a:avLst/>
          </a:prstGeom>
          <a:noFill/>
        </p:spPr>
        <p:txBody>
          <a:bodyPr wrap="square" lIns="0" rIns="0" tIns="0" bIns="0" anchor="t">
            <a:noAutofit/>
          </a:bodyPr>
          <a:lstStyle/>
          <a:p>
            <a:pPr algn="r">
              <a:lnSpc>
                <a:spcPct val="110000"/>
              </a:lnSpc>
            </a:pPr>
            <a:r>
              <a:rPr sz="1200" b="0">
                <a:solidFill>
                  <a:srgbClr val="E5E7EB"/>
                </a:solidFill>
                <a:latin typeface="IBM Plex San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1274552" y="274320"/>
            <a:ext cx="527830" cy="566928"/>
          </a:xfrm>
          <a:prstGeom prst="rect">
            <a:avLst/>
          </a:prstGeom>
        </p:spPr>
      </p:pic>
      <p:sp>
        <p:nvSpPr>
          <p:cNvPr id="3" name="TextBox 2"/>
          <p:cNvSpPr txBox="1"/>
          <p:nvPr/>
        </p:nvSpPr>
        <p:spPr>
          <a:xfrm>
            <a:off x="11155680" y="6355080"/>
            <a:ext cx="731520" cy="274320"/>
          </a:xfrm>
          <a:prstGeom prst="rect">
            <a:avLst/>
          </a:prstGeom>
          <a:noFill/>
        </p:spPr>
        <p:txBody>
          <a:bodyPr wrap="square" lIns="0" rIns="0" tIns="0" bIns="0" anchor="t">
            <a:noAutofit/>
          </a:bodyPr>
          <a:lstStyle/>
          <a:p>
            <a:pPr algn="r">
              <a:lnSpc>
                <a:spcPct val="110000"/>
              </a:lnSpc>
            </a:pPr>
            <a:r>
              <a:rPr sz="1200" b="0">
                <a:solidFill>
                  <a:srgbClr val="5B5E66"/>
                </a:solidFill>
                <a:latin typeface="IBM Plex Sans"/>
              </a:rPr>
              <a:t>2</a:t>
            </a:r>
          </a:p>
        </p:txBody>
      </p:sp>
      <p:sp>
        <p:nvSpPr>
          <p:cNvPr id="4" name="TextBox 3"/>
          <p:cNvSpPr txBox="1"/>
          <p:nvPr/>
        </p:nvSpPr>
        <p:spPr>
          <a:xfrm>
            <a:off x="640080" y="502920"/>
            <a:ext cx="7315200" cy="32004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THE PROBLEM</a:t>
            </a:r>
          </a:p>
        </p:txBody>
      </p:sp>
      <p:sp>
        <p:nvSpPr>
          <p:cNvPr id="5" name="TextBox 4"/>
          <p:cNvSpPr txBox="1"/>
          <p:nvPr/>
        </p:nvSpPr>
        <p:spPr>
          <a:xfrm>
            <a:off x="640080" y="1051560"/>
            <a:ext cx="5669280" cy="2377440"/>
          </a:xfrm>
          <a:prstGeom prst="rect">
            <a:avLst/>
          </a:prstGeom>
          <a:noFill/>
        </p:spPr>
        <p:txBody>
          <a:bodyPr wrap="square" lIns="0" rIns="0" tIns="0" bIns="0" anchor="t">
            <a:noAutofit/>
          </a:bodyPr>
          <a:lstStyle/>
          <a:p>
            <a:pPr algn="l">
              <a:lnSpc>
                <a:spcPct val="90000"/>
              </a:lnSpc>
            </a:pPr>
            <a:r>
              <a:rPr sz="15000" b="1">
                <a:solidFill>
                  <a:srgbClr val="9E1B20"/>
                </a:solidFill>
                <a:latin typeface="IBM Plex Sans"/>
              </a:rPr>
              <a:t>3–7</a:t>
            </a:r>
          </a:p>
        </p:txBody>
      </p:sp>
      <p:sp>
        <p:nvSpPr>
          <p:cNvPr id="6" name="TextBox 5"/>
          <p:cNvSpPr txBox="1"/>
          <p:nvPr/>
        </p:nvSpPr>
        <p:spPr>
          <a:xfrm>
            <a:off x="640080" y="3337560"/>
            <a:ext cx="5486400" cy="914400"/>
          </a:xfrm>
          <a:prstGeom prst="rect">
            <a:avLst/>
          </a:prstGeom>
          <a:noFill/>
        </p:spPr>
        <p:txBody>
          <a:bodyPr wrap="square" lIns="0" rIns="0" tIns="0" bIns="0" anchor="t">
            <a:noAutofit/>
          </a:bodyPr>
          <a:lstStyle/>
          <a:p>
            <a:pPr algn="l">
              <a:lnSpc>
                <a:spcPct val="110000"/>
              </a:lnSpc>
            </a:pPr>
            <a:r>
              <a:rPr sz="2200" b="1">
                <a:solidFill>
                  <a:srgbClr val="121316"/>
                </a:solidFill>
                <a:latin typeface="IBM Plex Sans"/>
              </a:rPr>
              <a:t>days a driver can lose without a car after one breakdown or accident (team estimate).</a:t>
            </a:r>
          </a:p>
        </p:txBody>
      </p:sp>
      <p:sp>
        <p:nvSpPr>
          <p:cNvPr id="7" name="Rounded Rectangle 6"/>
          <p:cNvSpPr/>
          <p:nvPr/>
        </p:nvSpPr>
        <p:spPr>
          <a:xfrm>
            <a:off x="6949440" y="1234440"/>
            <a:ext cx="4572000" cy="1371600"/>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49440" y="1234440"/>
            <a:ext cx="82296" cy="1371600"/>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69480" y="1417320"/>
            <a:ext cx="4114800" cy="365760"/>
          </a:xfrm>
          <a:prstGeom prst="rect">
            <a:avLst/>
          </a:prstGeom>
          <a:noFill/>
        </p:spPr>
        <p:txBody>
          <a:bodyPr wrap="square" lIns="0" rIns="0" tIns="0" bIns="0" anchor="t">
            <a:noAutofit/>
          </a:bodyPr>
          <a:lstStyle/>
          <a:p>
            <a:pPr algn="l">
              <a:lnSpc>
                <a:spcPct val="110000"/>
              </a:lnSpc>
            </a:pPr>
            <a:r>
              <a:rPr sz="1800" b="1">
                <a:solidFill>
                  <a:srgbClr val="121316"/>
                </a:solidFill>
                <a:latin typeface="IBM Plex Sans"/>
              </a:rPr>
              <a:t>Stranded on the shoulder</a:t>
            </a:r>
          </a:p>
        </p:txBody>
      </p:sp>
      <p:sp>
        <p:nvSpPr>
          <p:cNvPr id="10" name="TextBox 9"/>
          <p:cNvSpPr txBox="1"/>
          <p:nvPr/>
        </p:nvSpPr>
        <p:spPr>
          <a:xfrm>
            <a:off x="7269480" y="1801368"/>
            <a:ext cx="4114800" cy="731520"/>
          </a:xfrm>
          <a:prstGeom prst="rect">
            <a:avLst/>
          </a:prstGeom>
          <a:noFill/>
        </p:spPr>
        <p:txBody>
          <a:bodyPr wrap="square" lIns="0" rIns="0" tIns="0" bIns="0" anchor="t">
            <a:noAutofit/>
          </a:bodyPr>
          <a:lstStyle/>
          <a:p>
            <a:pPr algn="l">
              <a:lnSpc>
                <a:spcPct val="110000"/>
              </a:lnSpc>
            </a:pPr>
            <a:r>
              <a:rPr sz="1400" b="0">
                <a:solidFill>
                  <a:srgbClr val="5B5E66"/>
                </a:solidFill>
                <a:latin typeface="IBM Plex Sans"/>
              </a:rPr>
              <a:t>Long highways between cities, heat, and waiting for a tow truck with no clear arrival time.</a:t>
            </a:r>
          </a:p>
        </p:txBody>
      </p:sp>
      <p:sp>
        <p:nvSpPr>
          <p:cNvPr id="11" name="Rounded Rectangle 10"/>
          <p:cNvSpPr/>
          <p:nvPr/>
        </p:nvSpPr>
        <p:spPr>
          <a:xfrm>
            <a:off x="6949440" y="2834640"/>
            <a:ext cx="4572000" cy="1371600"/>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49440" y="2834640"/>
            <a:ext cx="82296" cy="1371600"/>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3017520"/>
            <a:ext cx="4114800" cy="365760"/>
          </a:xfrm>
          <a:prstGeom prst="rect">
            <a:avLst/>
          </a:prstGeom>
          <a:noFill/>
        </p:spPr>
        <p:txBody>
          <a:bodyPr wrap="square" lIns="0" rIns="0" tIns="0" bIns="0" anchor="t">
            <a:noAutofit/>
          </a:bodyPr>
          <a:lstStyle/>
          <a:p>
            <a:pPr algn="l">
              <a:lnSpc>
                <a:spcPct val="110000"/>
              </a:lnSpc>
            </a:pPr>
            <a:r>
              <a:rPr sz="1800" b="1">
                <a:solidFill>
                  <a:srgbClr val="121316"/>
                </a:solidFill>
                <a:latin typeface="IBM Plex Sans"/>
              </a:rPr>
              <a:t>Workshop guesswork</a:t>
            </a:r>
          </a:p>
        </p:txBody>
      </p:sp>
      <p:sp>
        <p:nvSpPr>
          <p:cNvPr id="14" name="TextBox 13"/>
          <p:cNvSpPr txBox="1"/>
          <p:nvPr/>
        </p:nvSpPr>
        <p:spPr>
          <a:xfrm>
            <a:off x="7269480" y="3401568"/>
            <a:ext cx="4114800" cy="731520"/>
          </a:xfrm>
          <a:prstGeom prst="rect">
            <a:avLst/>
          </a:prstGeom>
          <a:noFill/>
        </p:spPr>
        <p:txBody>
          <a:bodyPr wrap="square" lIns="0" rIns="0" tIns="0" bIns="0" anchor="t">
            <a:noAutofit/>
          </a:bodyPr>
          <a:lstStyle/>
          <a:p>
            <a:pPr algn="l">
              <a:lnSpc>
                <a:spcPct val="110000"/>
              </a:lnSpc>
            </a:pPr>
            <a:r>
              <a:rPr sz="1400" b="0">
                <a:solidFill>
                  <a:srgbClr val="5B5E66"/>
                </a:solidFill>
                <a:latin typeface="IBM Plex Sans"/>
              </a:rPr>
              <a:t>Finding a trusted workshop, getting quotes, and chasing updates by phone.</a:t>
            </a:r>
          </a:p>
        </p:txBody>
      </p:sp>
      <p:sp>
        <p:nvSpPr>
          <p:cNvPr id="15" name="Rounded Rectangle 14"/>
          <p:cNvSpPr/>
          <p:nvPr/>
        </p:nvSpPr>
        <p:spPr>
          <a:xfrm>
            <a:off x="6949440" y="4434840"/>
            <a:ext cx="4572000" cy="1371600"/>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4434840"/>
            <a:ext cx="82296" cy="1371600"/>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9480" y="4617720"/>
            <a:ext cx="4114800" cy="365760"/>
          </a:xfrm>
          <a:prstGeom prst="rect">
            <a:avLst/>
          </a:prstGeom>
          <a:noFill/>
        </p:spPr>
        <p:txBody>
          <a:bodyPr wrap="square" lIns="0" rIns="0" tIns="0" bIns="0" anchor="t">
            <a:noAutofit/>
          </a:bodyPr>
          <a:lstStyle/>
          <a:p>
            <a:pPr algn="l">
              <a:lnSpc>
                <a:spcPct val="110000"/>
              </a:lnSpc>
            </a:pPr>
            <a:r>
              <a:rPr sz="1800" b="1">
                <a:solidFill>
                  <a:srgbClr val="121316"/>
                </a:solidFill>
                <a:latin typeface="IBM Plex Sans"/>
              </a:rPr>
              <a:t>Lost mobility</a:t>
            </a:r>
          </a:p>
        </p:txBody>
      </p:sp>
      <p:sp>
        <p:nvSpPr>
          <p:cNvPr id="18" name="TextBox 17"/>
          <p:cNvSpPr txBox="1"/>
          <p:nvPr/>
        </p:nvSpPr>
        <p:spPr>
          <a:xfrm>
            <a:off x="7269480" y="5001768"/>
            <a:ext cx="4114800" cy="731520"/>
          </a:xfrm>
          <a:prstGeom prst="rect">
            <a:avLst/>
          </a:prstGeom>
          <a:noFill/>
        </p:spPr>
        <p:txBody>
          <a:bodyPr wrap="square" lIns="0" rIns="0" tIns="0" bIns="0" anchor="t">
            <a:noAutofit/>
          </a:bodyPr>
          <a:lstStyle/>
          <a:p>
            <a:pPr algn="l">
              <a:lnSpc>
                <a:spcPct val="110000"/>
              </a:lnSpc>
            </a:pPr>
            <a:r>
              <a:rPr sz="1400" b="0">
                <a:solidFill>
                  <a:srgbClr val="5B5E66"/>
                </a:solidFill>
                <a:latin typeface="IBM Plex Sans"/>
              </a:rPr>
              <a:t>Work, school runs and family trips stop while the car sits in repair.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1274552" y="274320"/>
            <a:ext cx="527830" cy="566928"/>
          </a:xfrm>
          <a:prstGeom prst="rect">
            <a:avLst/>
          </a:prstGeom>
        </p:spPr>
      </p:pic>
      <p:sp>
        <p:nvSpPr>
          <p:cNvPr id="3" name="TextBox 2"/>
          <p:cNvSpPr txBox="1"/>
          <p:nvPr/>
        </p:nvSpPr>
        <p:spPr>
          <a:xfrm>
            <a:off x="11155680" y="6355080"/>
            <a:ext cx="731520" cy="274320"/>
          </a:xfrm>
          <a:prstGeom prst="rect">
            <a:avLst/>
          </a:prstGeom>
          <a:noFill/>
        </p:spPr>
        <p:txBody>
          <a:bodyPr wrap="square" lIns="0" rIns="0" tIns="0" bIns="0" anchor="t">
            <a:noAutofit/>
          </a:bodyPr>
          <a:lstStyle/>
          <a:p>
            <a:pPr algn="r">
              <a:lnSpc>
                <a:spcPct val="110000"/>
              </a:lnSpc>
            </a:pPr>
            <a:r>
              <a:rPr sz="1200" b="0">
                <a:solidFill>
                  <a:srgbClr val="5B5E66"/>
                </a:solidFill>
                <a:latin typeface="IBM Plex Sans"/>
              </a:rPr>
              <a:t>3</a:t>
            </a:r>
          </a:p>
        </p:txBody>
      </p:sp>
      <p:sp>
        <p:nvSpPr>
          <p:cNvPr id="4" name="Rectangle 3"/>
          <p:cNvSpPr/>
          <p:nvPr/>
        </p:nvSpPr>
        <p:spPr>
          <a:xfrm>
            <a:off x="7315200" y="0"/>
            <a:ext cx="4876495" cy="6858000"/>
          </a:xfrm>
          <a:prstGeom prst="rect">
            <a:avLst/>
          </a:prstGeom>
          <a:solidFill>
            <a:srgbClr val="121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11274552" y="274320"/>
            <a:ext cx="527830" cy="566928"/>
          </a:xfrm>
          <a:prstGeom prst="rect">
            <a:avLst/>
          </a:prstGeom>
        </p:spPr>
      </p:pic>
      <p:sp>
        <p:nvSpPr>
          <p:cNvPr id="6" name="TextBox 5"/>
          <p:cNvSpPr txBox="1"/>
          <p:nvPr/>
        </p:nvSpPr>
        <p:spPr>
          <a:xfrm>
            <a:off x="640080" y="502920"/>
            <a:ext cx="6400800" cy="32004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THE FAZA'A VALUE PROPOSITION</a:t>
            </a:r>
          </a:p>
        </p:txBody>
      </p:sp>
      <p:sp>
        <p:nvSpPr>
          <p:cNvPr id="7" name="TextBox 6"/>
          <p:cNvSpPr txBox="1"/>
          <p:nvPr/>
        </p:nvSpPr>
        <p:spPr>
          <a:xfrm>
            <a:off x="640080" y="822960"/>
            <a:ext cx="6400800" cy="1005840"/>
          </a:xfrm>
          <a:prstGeom prst="rect">
            <a:avLst/>
          </a:prstGeom>
          <a:noFill/>
        </p:spPr>
        <p:txBody>
          <a:bodyPr wrap="square" lIns="0" rIns="0" tIns="0" bIns="0" anchor="t">
            <a:noAutofit/>
          </a:bodyPr>
          <a:lstStyle/>
          <a:p>
            <a:pPr algn="l">
              <a:lnSpc>
                <a:spcPct val="100000"/>
              </a:lnSpc>
            </a:pPr>
            <a:r>
              <a:rPr sz="3400" b="1">
                <a:solidFill>
                  <a:srgbClr val="121316"/>
                </a:solidFill>
                <a:latin typeface="IBM Plex Sans"/>
              </a:rPr>
              <a:t>One request. We handle
the rest.</a:t>
            </a:r>
          </a:p>
        </p:txBody>
      </p:sp>
      <p:sp>
        <p:nvSpPr>
          <p:cNvPr id="8" name="Oval 7"/>
          <p:cNvSpPr/>
          <p:nvPr/>
        </p:nvSpPr>
        <p:spPr>
          <a:xfrm>
            <a:off x="640080" y="2286000"/>
            <a:ext cx="457200" cy="457200"/>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457200" cy="457200"/>
          </a:xfrm>
          <a:prstGeom prst="rect">
            <a:avLst/>
          </a:prstGeom>
          <a:noFill/>
        </p:spPr>
        <p:txBody>
          <a:bodyPr wrap="square" lIns="0" rIns="0" tIns="0" bIns="0" anchor="ctr">
            <a:noAutofit/>
          </a:bodyPr>
          <a:lstStyle/>
          <a:p>
            <a:pPr algn="ctr">
              <a:lnSpc>
                <a:spcPct val="110000"/>
              </a:lnSpc>
            </a:pPr>
            <a:r>
              <a:rPr sz="1600" b="1">
                <a:solidFill>
                  <a:srgbClr val="FFFFFF"/>
                </a:solidFill>
                <a:latin typeface="IBM Plex Sans"/>
              </a:rPr>
              <a:t>1</a:t>
            </a:r>
          </a:p>
        </p:txBody>
      </p:sp>
      <p:sp>
        <p:nvSpPr>
          <p:cNvPr id="10" name="TextBox 9"/>
          <p:cNvSpPr txBox="1"/>
          <p:nvPr/>
        </p:nvSpPr>
        <p:spPr>
          <a:xfrm>
            <a:off x="1325880" y="2240280"/>
            <a:ext cx="5669280" cy="365760"/>
          </a:xfrm>
          <a:prstGeom prst="rect">
            <a:avLst/>
          </a:prstGeom>
          <a:noFill/>
        </p:spPr>
        <p:txBody>
          <a:bodyPr wrap="square" lIns="0" rIns="0" tIns="0" bIns="0" anchor="t">
            <a:noAutofit/>
          </a:bodyPr>
          <a:lstStyle/>
          <a:p>
            <a:pPr algn="l">
              <a:lnSpc>
                <a:spcPct val="110000"/>
              </a:lnSpc>
            </a:pPr>
            <a:r>
              <a:rPr sz="1900" b="1">
                <a:solidFill>
                  <a:srgbClr val="121316"/>
                </a:solidFill>
                <a:latin typeface="IBM Plex Sans"/>
              </a:rPr>
              <a:t>Instant replacement car</a:t>
            </a:r>
          </a:p>
        </p:txBody>
      </p:sp>
      <p:sp>
        <p:nvSpPr>
          <p:cNvPr id="11" name="TextBox 10"/>
          <p:cNvSpPr txBox="1"/>
          <p:nvPr/>
        </p:nvSpPr>
        <p:spPr>
          <a:xfrm>
            <a:off x="1325880" y="2624328"/>
            <a:ext cx="5669280" cy="548640"/>
          </a:xfrm>
          <a:prstGeom prst="rect">
            <a:avLst/>
          </a:prstGeom>
          <a:noFill/>
        </p:spPr>
        <p:txBody>
          <a:bodyPr wrap="square" lIns="0" rIns="0" tIns="0" bIns="0" anchor="t">
            <a:noAutofit/>
          </a:bodyPr>
          <a:lstStyle/>
          <a:p>
            <a:pPr algn="l">
              <a:lnSpc>
                <a:spcPct val="110000"/>
              </a:lnSpc>
            </a:pPr>
            <a:r>
              <a:rPr sz="1400" b="0">
                <a:solidFill>
                  <a:srgbClr val="5B5E66"/>
                </a:solidFill>
                <a:latin typeface="IBM Plex Sans"/>
              </a:rPr>
              <a:t>A field specialist arrives with an Economy, Sedan or SUV so you drive on immediately.</a:t>
            </a:r>
          </a:p>
        </p:txBody>
      </p:sp>
      <p:sp>
        <p:nvSpPr>
          <p:cNvPr id="12" name="Oval 11"/>
          <p:cNvSpPr/>
          <p:nvPr/>
        </p:nvSpPr>
        <p:spPr>
          <a:xfrm>
            <a:off x="640080" y="3310128"/>
            <a:ext cx="457200" cy="457200"/>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310128"/>
            <a:ext cx="457200" cy="457200"/>
          </a:xfrm>
          <a:prstGeom prst="rect">
            <a:avLst/>
          </a:prstGeom>
          <a:noFill/>
        </p:spPr>
        <p:txBody>
          <a:bodyPr wrap="square" lIns="0" rIns="0" tIns="0" bIns="0" anchor="ctr">
            <a:noAutofit/>
          </a:bodyPr>
          <a:lstStyle/>
          <a:p>
            <a:pPr algn="ctr">
              <a:lnSpc>
                <a:spcPct val="110000"/>
              </a:lnSpc>
            </a:pPr>
            <a:r>
              <a:rPr sz="1600" b="1">
                <a:solidFill>
                  <a:srgbClr val="FFFFFF"/>
                </a:solidFill>
                <a:latin typeface="IBM Plex Sans"/>
              </a:rPr>
              <a:t>2</a:t>
            </a:r>
          </a:p>
        </p:txBody>
      </p:sp>
      <p:sp>
        <p:nvSpPr>
          <p:cNvPr id="14" name="TextBox 13"/>
          <p:cNvSpPr txBox="1"/>
          <p:nvPr/>
        </p:nvSpPr>
        <p:spPr>
          <a:xfrm>
            <a:off x="1325880" y="3264408"/>
            <a:ext cx="5669280" cy="365760"/>
          </a:xfrm>
          <a:prstGeom prst="rect">
            <a:avLst/>
          </a:prstGeom>
          <a:noFill/>
        </p:spPr>
        <p:txBody>
          <a:bodyPr wrap="square" lIns="0" rIns="0" tIns="0" bIns="0" anchor="t">
            <a:noAutofit/>
          </a:bodyPr>
          <a:lstStyle/>
          <a:p>
            <a:pPr algn="l">
              <a:lnSpc>
                <a:spcPct val="110000"/>
              </a:lnSpc>
            </a:pPr>
            <a:r>
              <a:rPr sz="1900" b="1">
                <a:solidFill>
                  <a:srgbClr val="121316"/>
                </a:solidFill>
                <a:latin typeface="IBM Plex Sans"/>
              </a:rPr>
              <a:t>We stay with your car</a:t>
            </a:r>
          </a:p>
        </p:txBody>
      </p:sp>
      <p:sp>
        <p:nvSpPr>
          <p:cNvPr id="15" name="TextBox 14"/>
          <p:cNvSpPr txBox="1"/>
          <p:nvPr/>
        </p:nvSpPr>
        <p:spPr>
          <a:xfrm>
            <a:off x="1325880" y="3648456"/>
            <a:ext cx="5669280" cy="548640"/>
          </a:xfrm>
          <a:prstGeom prst="rect">
            <a:avLst/>
          </a:prstGeom>
          <a:noFill/>
        </p:spPr>
        <p:txBody>
          <a:bodyPr wrap="square" lIns="0" rIns="0" tIns="0" bIns="0" anchor="t">
            <a:noAutofit/>
          </a:bodyPr>
          <a:lstStyle/>
          <a:p>
            <a:pPr algn="l">
              <a:lnSpc>
                <a:spcPct val="110000"/>
              </a:lnSpc>
            </a:pPr>
            <a:r>
              <a:rPr sz="1400" b="0">
                <a:solidFill>
                  <a:srgbClr val="5B5E66"/>
                </a:solidFill>
                <a:latin typeface="IBM Plex Sans"/>
              </a:rPr>
              <a:t>The specialist guards the damaged car at the roadside until it is loaded.</a:t>
            </a:r>
          </a:p>
        </p:txBody>
      </p:sp>
      <p:sp>
        <p:nvSpPr>
          <p:cNvPr id="16" name="Oval 15"/>
          <p:cNvSpPr/>
          <p:nvPr/>
        </p:nvSpPr>
        <p:spPr>
          <a:xfrm>
            <a:off x="640080" y="4334256"/>
            <a:ext cx="457200" cy="457200"/>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334256"/>
            <a:ext cx="457200" cy="457200"/>
          </a:xfrm>
          <a:prstGeom prst="rect">
            <a:avLst/>
          </a:prstGeom>
          <a:noFill/>
        </p:spPr>
        <p:txBody>
          <a:bodyPr wrap="square" lIns="0" rIns="0" tIns="0" bIns="0" anchor="ctr">
            <a:noAutofit/>
          </a:bodyPr>
          <a:lstStyle/>
          <a:p>
            <a:pPr algn="ctr">
              <a:lnSpc>
                <a:spcPct val="110000"/>
              </a:lnSpc>
            </a:pPr>
            <a:r>
              <a:rPr sz="1600" b="1">
                <a:solidFill>
                  <a:srgbClr val="FFFFFF"/>
                </a:solidFill>
                <a:latin typeface="IBM Plex Sans"/>
              </a:rPr>
              <a:t>3</a:t>
            </a:r>
          </a:p>
        </p:txBody>
      </p:sp>
      <p:sp>
        <p:nvSpPr>
          <p:cNvPr id="18" name="TextBox 17"/>
          <p:cNvSpPr txBox="1"/>
          <p:nvPr/>
        </p:nvSpPr>
        <p:spPr>
          <a:xfrm>
            <a:off x="1325880" y="4288536"/>
            <a:ext cx="5669280" cy="365760"/>
          </a:xfrm>
          <a:prstGeom prst="rect">
            <a:avLst/>
          </a:prstGeom>
          <a:noFill/>
        </p:spPr>
        <p:txBody>
          <a:bodyPr wrap="square" lIns="0" rIns="0" tIns="0" bIns="0" anchor="t">
            <a:noAutofit/>
          </a:bodyPr>
          <a:lstStyle/>
          <a:p>
            <a:pPr algn="l">
              <a:lnSpc>
                <a:spcPct val="110000"/>
              </a:lnSpc>
            </a:pPr>
            <a:r>
              <a:rPr sz="1900" b="1">
                <a:solidFill>
                  <a:srgbClr val="121316"/>
                </a:solidFill>
                <a:latin typeface="IBM Plex Sans"/>
              </a:rPr>
              <a:t>Specialized workshops</a:t>
            </a:r>
          </a:p>
        </p:txBody>
      </p:sp>
      <p:sp>
        <p:nvSpPr>
          <p:cNvPr id="19" name="TextBox 18"/>
          <p:cNvSpPr txBox="1"/>
          <p:nvPr/>
        </p:nvSpPr>
        <p:spPr>
          <a:xfrm>
            <a:off x="1325880" y="4672584"/>
            <a:ext cx="5669280" cy="548640"/>
          </a:xfrm>
          <a:prstGeom prst="rect">
            <a:avLst/>
          </a:prstGeom>
          <a:noFill/>
        </p:spPr>
        <p:txBody>
          <a:bodyPr wrap="square" lIns="0" rIns="0" tIns="0" bIns="0" anchor="t">
            <a:noAutofit/>
          </a:bodyPr>
          <a:lstStyle/>
          <a:p>
            <a:pPr algn="l">
              <a:lnSpc>
                <a:spcPct val="110000"/>
              </a:lnSpc>
            </a:pPr>
            <a:r>
              <a:rPr sz="1400" b="0">
                <a:solidFill>
                  <a:srgbClr val="5B5E66"/>
                </a:solidFill>
                <a:latin typeface="IBM Plex Sans"/>
              </a:rPr>
              <a:t>Repair in FAZA'A partner workshops with agreed SLAs and quality checks.</a:t>
            </a:r>
          </a:p>
        </p:txBody>
      </p:sp>
      <p:sp>
        <p:nvSpPr>
          <p:cNvPr id="20" name="Oval 19"/>
          <p:cNvSpPr/>
          <p:nvPr/>
        </p:nvSpPr>
        <p:spPr>
          <a:xfrm>
            <a:off x="640080" y="5358384"/>
            <a:ext cx="457200" cy="457200"/>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358384"/>
            <a:ext cx="457200" cy="457200"/>
          </a:xfrm>
          <a:prstGeom prst="rect">
            <a:avLst/>
          </a:prstGeom>
          <a:noFill/>
        </p:spPr>
        <p:txBody>
          <a:bodyPr wrap="square" lIns="0" rIns="0" tIns="0" bIns="0" anchor="ctr">
            <a:noAutofit/>
          </a:bodyPr>
          <a:lstStyle/>
          <a:p>
            <a:pPr algn="ctr">
              <a:lnSpc>
                <a:spcPct val="110000"/>
              </a:lnSpc>
            </a:pPr>
            <a:r>
              <a:rPr sz="1600" b="1">
                <a:solidFill>
                  <a:srgbClr val="FFFFFF"/>
                </a:solidFill>
                <a:latin typeface="IBM Plex Sans"/>
              </a:rPr>
              <a:t>4</a:t>
            </a:r>
          </a:p>
        </p:txBody>
      </p:sp>
      <p:sp>
        <p:nvSpPr>
          <p:cNvPr id="22" name="TextBox 21"/>
          <p:cNvSpPr txBox="1"/>
          <p:nvPr/>
        </p:nvSpPr>
        <p:spPr>
          <a:xfrm>
            <a:off x="1325880" y="5312664"/>
            <a:ext cx="5669280" cy="365760"/>
          </a:xfrm>
          <a:prstGeom prst="rect">
            <a:avLst/>
          </a:prstGeom>
          <a:noFill/>
        </p:spPr>
        <p:txBody>
          <a:bodyPr wrap="square" lIns="0" rIns="0" tIns="0" bIns="0" anchor="t">
            <a:noAutofit/>
          </a:bodyPr>
          <a:lstStyle/>
          <a:p>
            <a:pPr algn="l">
              <a:lnSpc>
                <a:spcPct val="110000"/>
              </a:lnSpc>
            </a:pPr>
            <a:r>
              <a:rPr sz="1900" b="1">
                <a:solidFill>
                  <a:srgbClr val="121316"/>
                </a:solidFill>
                <a:latin typeface="IBM Plex Sans"/>
              </a:rPr>
              <a:t>Seamless handover</a:t>
            </a:r>
          </a:p>
        </p:txBody>
      </p:sp>
      <p:sp>
        <p:nvSpPr>
          <p:cNvPr id="23" name="TextBox 22"/>
          <p:cNvSpPr txBox="1"/>
          <p:nvPr/>
        </p:nvSpPr>
        <p:spPr>
          <a:xfrm>
            <a:off x="1325880" y="5696712"/>
            <a:ext cx="5669280" cy="548640"/>
          </a:xfrm>
          <a:prstGeom prst="rect">
            <a:avLst/>
          </a:prstGeom>
          <a:noFill/>
        </p:spPr>
        <p:txBody>
          <a:bodyPr wrap="square" lIns="0" rIns="0" tIns="0" bIns="0" anchor="t">
            <a:noAutofit/>
          </a:bodyPr>
          <a:lstStyle/>
          <a:p>
            <a:pPr algn="l">
              <a:lnSpc>
                <a:spcPct val="110000"/>
              </a:lnSpc>
            </a:pPr>
            <a:r>
              <a:rPr sz="1400" b="0">
                <a:solidFill>
                  <a:srgbClr val="5B5E66"/>
                </a:solidFill>
                <a:latin typeface="IBM Plex Sans"/>
              </a:rPr>
              <a:t>We return your repaired car and collect the replacement in one visit.</a:t>
            </a:r>
          </a:p>
        </p:txBody>
      </p:sp>
      <p:pic>
        <p:nvPicPr>
          <p:cNvPr id="24" name="Picture 23" descr="c_sos_en_r.png"/>
          <p:cNvPicPr>
            <a:picLocks noChangeAspect="1"/>
          </p:cNvPicPr>
          <p:nvPr/>
        </p:nvPicPr>
        <p:blipFill>
          <a:blip r:embed="rId3"/>
          <a:stretch>
            <a:fillRect/>
          </a:stretch>
        </p:blipFill>
        <p:spPr>
          <a:xfrm>
            <a:off x="8366760" y="868680"/>
            <a:ext cx="2527765" cy="5486400"/>
          </a:xfrm>
          <a:prstGeom prst="rect">
            <a:avLst/>
          </a:prstGeom>
        </p:spPr>
      </p:pic>
      <p:sp>
        <p:nvSpPr>
          <p:cNvPr id="25" name="TextBox 24"/>
          <p:cNvSpPr txBox="1"/>
          <p:nvPr/>
        </p:nvSpPr>
        <p:spPr>
          <a:xfrm>
            <a:off x="11155680" y="6355080"/>
            <a:ext cx="731520" cy="274320"/>
          </a:xfrm>
          <a:prstGeom prst="rect">
            <a:avLst/>
          </a:prstGeom>
          <a:noFill/>
        </p:spPr>
        <p:txBody>
          <a:bodyPr wrap="square" lIns="0" rIns="0" tIns="0" bIns="0" anchor="t">
            <a:noAutofit/>
          </a:bodyPr>
          <a:lstStyle/>
          <a:p>
            <a:pPr algn="r">
              <a:lnSpc>
                <a:spcPct val="110000"/>
              </a:lnSpc>
            </a:pPr>
            <a:r>
              <a:rPr sz="1200" b="0">
                <a:solidFill>
                  <a:srgbClr val="E5E7EB"/>
                </a:solidFill>
                <a:latin typeface="IBM Plex San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8"/>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1274552" y="274320"/>
            <a:ext cx="527830" cy="566928"/>
          </a:xfrm>
          <a:prstGeom prst="rect">
            <a:avLst/>
          </a:prstGeom>
        </p:spPr>
      </p:pic>
      <p:sp>
        <p:nvSpPr>
          <p:cNvPr id="3" name="TextBox 2"/>
          <p:cNvSpPr txBox="1"/>
          <p:nvPr/>
        </p:nvSpPr>
        <p:spPr>
          <a:xfrm>
            <a:off x="11155680" y="6355080"/>
            <a:ext cx="731520" cy="274320"/>
          </a:xfrm>
          <a:prstGeom prst="rect">
            <a:avLst/>
          </a:prstGeom>
          <a:noFill/>
        </p:spPr>
        <p:txBody>
          <a:bodyPr wrap="square" lIns="0" rIns="0" tIns="0" bIns="0" anchor="t">
            <a:noAutofit/>
          </a:bodyPr>
          <a:lstStyle/>
          <a:p>
            <a:pPr algn="r">
              <a:lnSpc>
                <a:spcPct val="110000"/>
              </a:lnSpc>
            </a:pPr>
            <a:r>
              <a:rPr sz="1200" b="0">
                <a:solidFill>
                  <a:srgbClr val="5B5E66"/>
                </a:solidFill>
                <a:latin typeface="IBM Plex Sans"/>
              </a:rPr>
              <a:t>4</a:t>
            </a:r>
          </a:p>
        </p:txBody>
      </p:sp>
      <p:sp>
        <p:nvSpPr>
          <p:cNvPr id="4" name="TextBox 3"/>
          <p:cNvSpPr txBox="1"/>
          <p:nvPr/>
        </p:nvSpPr>
        <p:spPr>
          <a:xfrm>
            <a:off x="640080" y="502920"/>
            <a:ext cx="7772400" cy="32004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HOW FAZA'A WORKS</a:t>
            </a:r>
          </a:p>
        </p:txBody>
      </p:sp>
      <p:sp>
        <p:nvSpPr>
          <p:cNvPr id="5" name="TextBox 4"/>
          <p:cNvSpPr txBox="1"/>
          <p:nvPr/>
        </p:nvSpPr>
        <p:spPr>
          <a:xfrm>
            <a:off x="640080" y="822960"/>
            <a:ext cx="7772400" cy="1005840"/>
          </a:xfrm>
          <a:prstGeom prst="rect">
            <a:avLst/>
          </a:prstGeom>
          <a:noFill/>
        </p:spPr>
        <p:txBody>
          <a:bodyPr wrap="square" lIns="0" rIns="0" tIns="0" bIns="0" anchor="t">
            <a:noAutofit/>
          </a:bodyPr>
          <a:lstStyle/>
          <a:p>
            <a:pPr algn="l">
              <a:lnSpc>
                <a:spcPct val="100000"/>
              </a:lnSpc>
            </a:pPr>
            <a:r>
              <a:rPr sz="3400" b="1">
                <a:solidFill>
                  <a:srgbClr val="121316"/>
                </a:solidFill>
                <a:latin typeface="IBM Plex Sans"/>
              </a:rPr>
              <a:t>From roadside SOS to workshop handover</a:t>
            </a:r>
          </a:p>
        </p:txBody>
      </p:sp>
      <p:sp>
        <p:nvSpPr>
          <p:cNvPr id="6" name="Rectangle 5"/>
          <p:cNvSpPr/>
          <p:nvPr/>
        </p:nvSpPr>
        <p:spPr>
          <a:xfrm>
            <a:off x="1143000" y="3090672"/>
            <a:ext cx="9966960" cy="5486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43000" y="2743200"/>
            <a:ext cx="749808" cy="749808"/>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743200"/>
            <a:ext cx="749808" cy="749808"/>
          </a:xfrm>
          <a:prstGeom prst="rect">
            <a:avLst/>
          </a:prstGeom>
          <a:noFill/>
        </p:spPr>
        <p:txBody>
          <a:bodyPr wrap="square" lIns="0" rIns="0" tIns="0" bIns="0" anchor="ctr">
            <a:noAutofit/>
          </a:bodyPr>
          <a:lstStyle/>
          <a:p>
            <a:pPr algn="ctr">
              <a:lnSpc>
                <a:spcPct val="110000"/>
              </a:lnSpc>
            </a:pPr>
            <a:r>
              <a:rPr sz="2400" b="1">
                <a:solidFill>
                  <a:srgbClr val="FFFFFF"/>
                </a:solidFill>
                <a:latin typeface="IBM Plex Sans"/>
              </a:rPr>
              <a:t>1</a:t>
            </a:r>
          </a:p>
        </p:txBody>
      </p:sp>
      <p:sp>
        <p:nvSpPr>
          <p:cNvPr id="9" name="Rounded Rectangle 8"/>
          <p:cNvSpPr/>
          <p:nvPr/>
        </p:nvSpPr>
        <p:spPr>
          <a:xfrm>
            <a:off x="640080" y="3840480"/>
            <a:ext cx="2057400" cy="2011680"/>
          </a:xfrm>
          <a:prstGeom prst="roundRect">
            <a:avLst>
              <a:gd name="adj" fmla="val 12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4023360"/>
            <a:ext cx="1737360" cy="1097280"/>
          </a:xfrm>
          <a:prstGeom prst="rect">
            <a:avLst/>
          </a:prstGeom>
          <a:noFill/>
        </p:spPr>
        <p:txBody>
          <a:bodyPr wrap="square" lIns="0" rIns="0" tIns="0" bIns="0" anchor="t">
            <a:noAutofit/>
          </a:bodyPr>
          <a:lstStyle/>
          <a:p>
            <a:pPr algn="l">
              <a:lnSpc>
                <a:spcPct val="110000"/>
              </a:lnSpc>
            </a:pPr>
            <a:r>
              <a:rPr sz="1500" b="1">
                <a:solidFill>
                  <a:srgbClr val="121316"/>
                </a:solidFill>
                <a:latin typeface="IBM Plex Sans"/>
              </a:rPr>
              <a:t>Specialist &amp; replacement car en route</a:t>
            </a:r>
          </a:p>
        </p:txBody>
      </p:sp>
      <p:sp>
        <p:nvSpPr>
          <p:cNvPr id="11" name="TextBox 10"/>
          <p:cNvSpPr txBox="1"/>
          <p:nvPr/>
        </p:nvSpPr>
        <p:spPr>
          <a:xfrm>
            <a:off x="822959" y="5257800"/>
            <a:ext cx="1737360" cy="36576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14:05</a:t>
            </a:r>
          </a:p>
        </p:txBody>
      </p:sp>
      <p:sp>
        <p:nvSpPr>
          <p:cNvPr id="12" name="Oval 11"/>
          <p:cNvSpPr/>
          <p:nvPr/>
        </p:nvSpPr>
        <p:spPr>
          <a:xfrm>
            <a:off x="3410711" y="2743200"/>
            <a:ext cx="749808" cy="749808"/>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711" y="2743200"/>
            <a:ext cx="749808" cy="749808"/>
          </a:xfrm>
          <a:prstGeom prst="rect">
            <a:avLst/>
          </a:prstGeom>
          <a:noFill/>
        </p:spPr>
        <p:txBody>
          <a:bodyPr wrap="square" lIns="0" rIns="0" tIns="0" bIns="0" anchor="ctr">
            <a:noAutofit/>
          </a:bodyPr>
          <a:lstStyle/>
          <a:p>
            <a:pPr algn="ctr">
              <a:lnSpc>
                <a:spcPct val="110000"/>
              </a:lnSpc>
            </a:pPr>
            <a:r>
              <a:rPr sz="2400" b="1">
                <a:solidFill>
                  <a:srgbClr val="FFFFFF"/>
                </a:solidFill>
                <a:latin typeface="IBM Plex Sans"/>
              </a:rPr>
              <a:t>2</a:t>
            </a:r>
          </a:p>
        </p:txBody>
      </p:sp>
      <p:sp>
        <p:nvSpPr>
          <p:cNvPr id="14" name="Rounded Rectangle 13"/>
          <p:cNvSpPr/>
          <p:nvPr/>
        </p:nvSpPr>
        <p:spPr>
          <a:xfrm>
            <a:off x="2907791" y="3840480"/>
            <a:ext cx="2057400" cy="2011680"/>
          </a:xfrm>
          <a:prstGeom prst="roundRect">
            <a:avLst>
              <a:gd name="adj" fmla="val 12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90672" y="4023360"/>
            <a:ext cx="1737360" cy="1097280"/>
          </a:xfrm>
          <a:prstGeom prst="rect">
            <a:avLst/>
          </a:prstGeom>
          <a:noFill/>
        </p:spPr>
        <p:txBody>
          <a:bodyPr wrap="square" lIns="0" rIns="0" tIns="0" bIns="0" anchor="t">
            <a:noAutofit/>
          </a:bodyPr>
          <a:lstStyle/>
          <a:p>
            <a:pPr algn="l">
              <a:lnSpc>
                <a:spcPct val="110000"/>
              </a:lnSpc>
            </a:pPr>
            <a:r>
              <a:rPr sz="1500" b="1">
                <a:solidFill>
                  <a:srgbClr val="121316"/>
                </a:solidFill>
                <a:latin typeface="IBM Plex Sans"/>
              </a:rPr>
              <a:t>Car handed over, specialist guards yours</a:t>
            </a:r>
          </a:p>
        </p:txBody>
      </p:sp>
      <p:sp>
        <p:nvSpPr>
          <p:cNvPr id="16" name="TextBox 15"/>
          <p:cNvSpPr txBox="1"/>
          <p:nvPr/>
        </p:nvSpPr>
        <p:spPr>
          <a:xfrm>
            <a:off x="3090672" y="5257800"/>
            <a:ext cx="1737360" cy="36576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14:31</a:t>
            </a:r>
          </a:p>
        </p:txBody>
      </p:sp>
      <p:sp>
        <p:nvSpPr>
          <p:cNvPr id="17" name="Oval 16"/>
          <p:cNvSpPr/>
          <p:nvPr/>
        </p:nvSpPr>
        <p:spPr>
          <a:xfrm>
            <a:off x="5678424" y="2743200"/>
            <a:ext cx="749808" cy="749808"/>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78424" y="2743200"/>
            <a:ext cx="749808" cy="749808"/>
          </a:xfrm>
          <a:prstGeom prst="rect">
            <a:avLst/>
          </a:prstGeom>
          <a:noFill/>
        </p:spPr>
        <p:txBody>
          <a:bodyPr wrap="square" lIns="0" rIns="0" tIns="0" bIns="0" anchor="ctr">
            <a:noAutofit/>
          </a:bodyPr>
          <a:lstStyle/>
          <a:p>
            <a:pPr algn="ctr">
              <a:lnSpc>
                <a:spcPct val="110000"/>
              </a:lnSpc>
            </a:pPr>
            <a:r>
              <a:rPr sz="2400" b="1">
                <a:solidFill>
                  <a:srgbClr val="FFFFFF"/>
                </a:solidFill>
                <a:latin typeface="IBM Plex Sans"/>
              </a:rPr>
              <a:t>3</a:t>
            </a:r>
          </a:p>
        </p:txBody>
      </p:sp>
      <p:sp>
        <p:nvSpPr>
          <p:cNvPr id="19" name="Rounded Rectangle 18"/>
          <p:cNvSpPr/>
          <p:nvPr/>
        </p:nvSpPr>
        <p:spPr>
          <a:xfrm>
            <a:off x="5175504" y="3840480"/>
            <a:ext cx="2057400" cy="2011680"/>
          </a:xfrm>
          <a:prstGeom prst="roundRect">
            <a:avLst>
              <a:gd name="adj" fmla="val 12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58384" y="4023360"/>
            <a:ext cx="1737360" cy="1097280"/>
          </a:xfrm>
          <a:prstGeom prst="rect">
            <a:avLst/>
          </a:prstGeom>
          <a:noFill/>
        </p:spPr>
        <p:txBody>
          <a:bodyPr wrap="square" lIns="0" rIns="0" tIns="0" bIns="0" anchor="t">
            <a:noAutofit/>
          </a:bodyPr>
          <a:lstStyle/>
          <a:p>
            <a:pPr algn="l">
              <a:lnSpc>
                <a:spcPct val="110000"/>
              </a:lnSpc>
            </a:pPr>
            <a:r>
              <a:rPr sz="1500" b="1">
                <a:solidFill>
                  <a:srgbClr val="121316"/>
                </a:solidFill>
                <a:latin typeface="IBM Plex Sans"/>
              </a:rPr>
              <a:t>Towed to FAZA'A specialized workshop</a:t>
            </a:r>
          </a:p>
        </p:txBody>
      </p:sp>
      <p:sp>
        <p:nvSpPr>
          <p:cNvPr id="21" name="TextBox 20"/>
          <p:cNvSpPr txBox="1"/>
          <p:nvPr/>
        </p:nvSpPr>
        <p:spPr>
          <a:xfrm>
            <a:off x="5358384" y="5257800"/>
            <a:ext cx="1737360" cy="36576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15:12</a:t>
            </a:r>
          </a:p>
        </p:txBody>
      </p:sp>
      <p:sp>
        <p:nvSpPr>
          <p:cNvPr id="22" name="Oval 21"/>
          <p:cNvSpPr/>
          <p:nvPr/>
        </p:nvSpPr>
        <p:spPr>
          <a:xfrm>
            <a:off x="7946136" y="2743200"/>
            <a:ext cx="749808" cy="749808"/>
          </a:xfrm>
          <a:prstGeom prst="ellipse">
            <a:avLst/>
          </a:prstGeom>
          <a:solidFill>
            <a:srgbClr val="121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6136" y="2743200"/>
            <a:ext cx="749808" cy="749808"/>
          </a:xfrm>
          <a:prstGeom prst="rect">
            <a:avLst/>
          </a:prstGeom>
          <a:noFill/>
        </p:spPr>
        <p:txBody>
          <a:bodyPr wrap="square" lIns="0" rIns="0" tIns="0" bIns="0" anchor="ctr">
            <a:noAutofit/>
          </a:bodyPr>
          <a:lstStyle/>
          <a:p>
            <a:pPr algn="ctr">
              <a:lnSpc>
                <a:spcPct val="110000"/>
              </a:lnSpc>
            </a:pPr>
            <a:r>
              <a:rPr sz="2400" b="1">
                <a:solidFill>
                  <a:srgbClr val="FFFFFF"/>
                </a:solidFill>
                <a:latin typeface="IBM Plex Sans"/>
              </a:rPr>
              <a:t>4</a:t>
            </a:r>
          </a:p>
        </p:txBody>
      </p:sp>
      <p:sp>
        <p:nvSpPr>
          <p:cNvPr id="24" name="Rounded Rectangle 23"/>
          <p:cNvSpPr/>
          <p:nvPr/>
        </p:nvSpPr>
        <p:spPr>
          <a:xfrm>
            <a:off x="7443215" y="3840480"/>
            <a:ext cx="2057400" cy="2011680"/>
          </a:xfrm>
          <a:prstGeom prst="roundRect">
            <a:avLst>
              <a:gd name="adj" fmla="val 12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6095" y="4023360"/>
            <a:ext cx="1737360" cy="1097280"/>
          </a:xfrm>
          <a:prstGeom prst="rect">
            <a:avLst/>
          </a:prstGeom>
          <a:noFill/>
        </p:spPr>
        <p:txBody>
          <a:bodyPr wrap="square" lIns="0" rIns="0" tIns="0" bIns="0" anchor="t">
            <a:noAutofit/>
          </a:bodyPr>
          <a:lstStyle/>
          <a:p>
            <a:pPr algn="l">
              <a:lnSpc>
                <a:spcPct val="110000"/>
              </a:lnSpc>
            </a:pPr>
            <a:r>
              <a:rPr sz="1500" b="1">
                <a:solidFill>
                  <a:srgbClr val="121316"/>
                </a:solidFill>
                <a:latin typeface="IBM Plex Sans"/>
              </a:rPr>
              <a:t>Repair &amp; quality inspection</a:t>
            </a:r>
          </a:p>
        </p:txBody>
      </p:sp>
      <p:sp>
        <p:nvSpPr>
          <p:cNvPr id="26" name="TextBox 25"/>
          <p:cNvSpPr txBox="1"/>
          <p:nvPr/>
        </p:nvSpPr>
        <p:spPr>
          <a:xfrm>
            <a:off x="7626095" y="5257800"/>
            <a:ext cx="1737360" cy="36576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Day 2 · 10:40</a:t>
            </a:r>
          </a:p>
        </p:txBody>
      </p:sp>
      <p:sp>
        <p:nvSpPr>
          <p:cNvPr id="27" name="Oval 26"/>
          <p:cNvSpPr/>
          <p:nvPr/>
        </p:nvSpPr>
        <p:spPr>
          <a:xfrm>
            <a:off x="10213848" y="2743200"/>
            <a:ext cx="749808" cy="749808"/>
          </a:xfrm>
          <a:prstGeom prst="ellipse">
            <a:avLst/>
          </a:prstGeom>
          <a:solidFill>
            <a:srgbClr val="121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3848" y="2743200"/>
            <a:ext cx="749808" cy="749808"/>
          </a:xfrm>
          <a:prstGeom prst="rect">
            <a:avLst/>
          </a:prstGeom>
          <a:noFill/>
        </p:spPr>
        <p:txBody>
          <a:bodyPr wrap="square" lIns="0" rIns="0" tIns="0" bIns="0" anchor="ctr">
            <a:noAutofit/>
          </a:bodyPr>
          <a:lstStyle/>
          <a:p>
            <a:pPr algn="ctr">
              <a:lnSpc>
                <a:spcPct val="110000"/>
              </a:lnSpc>
            </a:pPr>
            <a:r>
              <a:rPr sz="2400" b="1">
                <a:solidFill>
                  <a:srgbClr val="FFFFFF"/>
                </a:solidFill>
                <a:latin typeface="IBM Plex Sans"/>
              </a:rPr>
              <a:t>5</a:t>
            </a:r>
          </a:p>
        </p:txBody>
      </p:sp>
      <p:sp>
        <p:nvSpPr>
          <p:cNvPr id="29" name="Rounded Rectangle 28"/>
          <p:cNvSpPr/>
          <p:nvPr/>
        </p:nvSpPr>
        <p:spPr>
          <a:xfrm>
            <a:off x="9710928" y="3840480"/>
            <a:ext cx="2057400" cy="2011680"/>
          </a:xfrm>
          <a:prstGeom prst="roundRect">
            <a:avLst>
              <a:gd name="adj" fmla="val 12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93807" y="4023360"/>
            <a:ext cx="1737360" cy="1097280"/>
          </a:xfrm>
          <a:prstGeom prst="rect">
            <a:avLst/>
          </a:prstGeom>
          <a:noFill/>
        </p:spPr>
        <p:txBody>
          <a:bodyPr wrap="square" lIns="0" rIns="0" tIns="0" bIns="0" anchor="t">
            <a:noAutofit/>
          </a:bodyPr>
          <a:lstStyle/>
          <a:p>
            <a:pPr algn="l">
              <a:lnSpc>
                <a:spcPct val="110000"/>
              </a:lnSpc>
            </a:pPr>
            <a:r>
              <a:rPr sz="1500" b="1">
                <a:solidFill>
                  <a:srgbClr val="121316"/>
                </a:solidFill>
                <a:latin typeface="IBM Plex Sans"/>
              </a:rPr>
              <a:t>Ready for handover &amp; return</a:t>
            </a:r>
          </a:p>
        </p:txBody>
      </p:sp>
      <p:sp>
        <p:nvSpPr>
          <p:cNvPr id="31" name="TextBox 30"/>
          <p:cNvSpPr txBox="1"/>
          <p:nvPr/>
        </p:nvSpPr>
        <p:spPr>
          <a:xfrm>
            <a:off x="9893807" y="5257800"/>
            <a:ext cx="1737360" cy="36576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Day 3 · 13:15</a:t>
            </a:r>
          </a:p>
        </p:txBody>
      </p:sp>
      <p:sp>
        <p:nvSpPr>
          <p:cNvPr id="32" name="TextBox 31"/>
          <p:cNvSpPr txBox="1"/>
          <p:nvPr/>
        </p:nvSpPr>
        <p:spPr>
          <a:xfrm>
            <a:off x="640080" y="1965960"/>
            <a:ext cx="10058400" cy="457200"/>
          </a:xfrm>
          <a:prstGeom prst="rect">
            <a:avLst/>
          </a:prstGeom>
          <a:noFill/>
        </p:spPr>
        <p:txBody>
          <a:bodyPr wrap="square" lIns="0" rIns="0" tIns="0" bIns="0" anchor="t">
            <a:noAutofit/>
          </a:bodyPr>
          <a:lstStyle/>
          <a:p>
            <a:pPr algn="l">
              <a:lnSpc>
                <a:spcPct val="110000"/>
              </a:lnSpc>
            </a:pPr>
            <a:r>
              <a:rPr sz="1500" b="0">
                <a:solidFill>
                  <a:srgbClr val="5B5E66"/>
                </a:solidFill>
                <a:latin typeface="IBM Plex Sans"/>
              </a:rPr>
              <a:t>Sample request FZ-26-0417, Riyadh, Asia/Riyadh time. Each step updates the customer's tracker live.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1274552" y="274320"/>
            <a:ext cx="527830" cy="566928"/>
          </a:xfrm>
          <a:prstGeom prst="rect">
            <a:avLst/>
          </a:prstGeom>
        </p:spPr>
      </p:pic>
      <p:sp>
        <p:nvSpPr>
          <p:cNvPr id="3" name="TextBox 2"/>
          <p:cNvSpPr txBox="1"/>
          <p:nvPr/>
        </p:nvSpPr>
        <p:spPr>
          <a:xfrm>
            <a:off x="11155680" y="6355080"/>
            <a:ext cx="731520" cy="274320"/>
          </a:xfrm>
          <a:prstGeom prst="rect">
            <a:avLst/>
          </a:prstGeom>
          <a:noFill/>
        </p:spPr>
        <p:txBody>
          <a:bodyPr wrap="square" lIns="0" rIns="0" tIns="0" bIns="0" anchor="t">
            <a:noAutofit/>
          </a:bodyPr>
          <a:lstStyle/>
          <a:p>
            <a:pPr algn="r">
              <a:lnSpc>
                <a:spcPct val="110000"/>
              </a:lnSpc>
            </a:pPr>
            <a:r>
              <a:rPr sz="1200" b="0">
                <a:solidFill>
                  <a:srgbClr val="5B5E66"/>
                </a:solidFill>
                <a:latin typeface="IBM Plex Sans"/>
              </a:rPr>
              <a:t>5</a:t>
            </a:r>
          </a:p>
        </p:txBody>
      </p:sp>
      <p:sp>
        <p:nvSpPr>
          <p:cNvPr id="4" name="TextBox 3"/>
          <p:cNvSpPr txBox="1"/>
          <p:nvPr/>
        </p:nvSpPr>
        <p:spPr>
          <a:xfrm>
            <a:off x="640080" y="502920"/>
            <a:ext cx="6858000" cy="32004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KINGDOM-WIDE COVERAGE</a:t>
            </a:r>
          </a:p>
        </p:txBody>
      </p:sp>
      <p:sp>
        <p:nvSpPr>
          <p:cNvPr id="5" name="TextBox 4"/>
          <p:cNvSpPr txBox="1"/>
          <p:nvPr/>
        </p:nvSpPr>
        <p:spPr>
          <a:xfrm>
            <a:off x="640080" y="822960"/>
            <a:ext cx="6858000" cy="1005840"/>
          </a:xfrm>
          <a:prstGeom prst="rect">
            <a:avLst/>
          </a:prstGeom>
          <a:noFill/>
        </p:spPr>
        <p:txBody>
          <a:bodyPr wrap="square" lIns="0" rIns="0" tIns="0" bIns="0" anchor="t">
            <a:noAutofit/>
          </a:bodyPr>
          <a:lstStyle/>
          <a:p>
            <a:pPr algn="l">
              <a:lnSpc>
                <a:spcPct val="100000"/>
              </a:lnSpc>
            </a:pPr>
            <a:r>
              <a:rPr sz="3400" b="1">
                <a:solidFill>
                  <a:srgbClr val="121316"/>
                </a:solidFill>
                <a:latin typeface="IBM Plex Sans"/>
              </a:rPr>
              <a:t>All 13 regions, one network</a:t>
            </a:r>
          </a:p>
        </p:txBody>
      </p:sp>
      <p:sp>
        <p:nvSpPr>
          <p:cNvPr id="6" name="TextBox 5"/>
          <p:cNvSpPr txBox="1"/>
          <p:nvPr/>
        </p:nvSpPr>
        <p:spPr>
          <a:xfrm>
            <a:off x="640080" y="1783080"/>
            <a:ext cx="6766560" cy="457200"/>
          </a:xfrm>
          <a:prstGeom prst="rect">
            <a:avLst/>
          </a:prstGeom>
          <a:noFill/>
        </p:spPr>
        <p:txBody>
          <a:bodyPr wrap="square" lIns="0" rIns="0" tIns="0" bIns="0" anchor="t">
            <a:noAutofit/>
          </a:bodyPr>
          <a:lstStyle/>
          <a:p>
            <a:pPr algn="l">
              <a:lnSpc>
                <a:spcPct val="110000"/>
              </a:lnSpc>
            </a:pPr>
            <a:r>
              <a:rPr sz="1500" b="0">
                <a:solidFill>
                  <a:srgbClr val="5B5E66"/>
                </a:solidFill>
                <a:latin typeface="IBM Plex Sans"/>
              </a:rPr>
              <a:t>120 replacement cars and 24 partner workshops, weighted by traffic and highway length.</a:t>
            </a:r>
          </a:p>
        </p:txBody>
      </p:sp>
      <p:sp>
        <p:nvSpPr>
          <p:cNvPr id="7" name="Rounded Rectangle 6"/>
          <p:cNvSpPr/>
          <p:nvPr/>
        </p:nvSpPr>
        <p:spPr>
          <a:xfrm>
            <a:off x="640080" y="2377440"/>
            <a:ext cx="2212848" cy="786384"/>
          </a:xfrm>
          <a:prstGeom prst="roundRect">
            <a:avLst>
              <a:gd name="adj" fmla="val 12000"/>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68880"/>
            <a:ext cx="1938528" cy="320040"/>
          </a:xfrm>
          <a:prstGeom prst="rect">
            <a:avLst/>
          </a:prstGeom>
          <a:noFill/>
        </p:spPr>
        <p:txBody>
          <a:bodyPr wrap="square" lIns="0" rIns="0" tIns="0" bIns="0" anchor="t">
            <a:noAutofit/>
          </a:bodyPr>
          <a:lstStyle/>
          <a:p>
            <a:pPr algn="l">
              <a:lnSpc>
                <a:spcPct val="110000"/>
              </a:lnSpc>
            </a:pPr>
            <a:r>
              <a:rPr sz="1400" b="1">
                <a:solidFill>
                  <a:srgbClr val="FFFFFF"/>
                </a:solidFill>
                <a:latin typeface="IBM Plex Sans"/>
              </a:rPr>
              <a:t>Riyadh</a:t>
            </a:r>
          </a:p>
        </p:txBody>
      </p:sp>
      <p:sp>
        <p:nvSpPr>
          <p:cNvPr id="9" name="TextBox 8"/>
          <p:cNvSpPr txBox="1"/>
          <p:nvPr/>
        </p:nvSpPr>
        <p:spPr>
          <a:xfrm>
            <a:off x="777240" y="2807208"/>
            <a:ext cx="1938528" cy="274320"/>
          </a:xfrm>
          <a:prstGeom prst="rect">
            <a:avLst/>
          </a:prstGeom>
          <a:noFill/>
        </p:spPr>
        <p:txBody>
          <a:bodyPr wrap="square" lIns="0" rIns="0" tIns="0" bIns="0" anchor="t">
            <a:noAutofit/>
          </a:bodyPr>
          <a:lstStyle/>
          <a:p>
            <a:pPr algn="l">
              <a:lnSpc>
                <a:spcPct val="110000"/>
              </a:lnSpc>
            </a:pPr>
            <a:r>
              <a:rPr sz="1150" b="0">
                <a:solidFill>
                  <a:srgbClr val="E5E7EB"/>
                </a:solidFill>
                <a:latin typeface="IBM Plex Sans"/>
              </a:rPr>
              <a:t>22 cars · 4 WS · 25 min</a:t>
            </a:r>
          </a:p>
        </p:txBody>
      </p:sp>
      <p:sp>
        <p:nvSpPr>
          <p:cNvPr id="10" name="Rounded Rectangle 9"/>
          <p:cNvSpPr/>
          <p:nvPr/>
        </p:nvSpPr>
        <p:spPr>
          <a:xfrm>
            <a:off x="2944368" y="2377440"/>
            <a:ext cx="2212848" cy="786384"/>
          </a:xfrm>
          <a:prstGeom prst="roundRect">
            <a:avLst>
              <a:gd name="adj" fmla="val 12000"/>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81527" y="2468880"/>
            <a:ext cx="1938528" cy="320040"/>
          </a:xfrm>
          <a:prstGeom prst="rect">
            <a:avLst/>
          </a:prstGeom>
          <a:noFill/>
        </p:spPr>
        <p:txBody>
          <a:bodyPr wrap="square" lIns="0" rIns="0" tIns="0" bIns="0" anchor="t">
            <a:noAutofit/>
          </a:bodyPr>
          <a:lstStyle/>
          <a:p>
            <a:pPr algn="l">
              <a:lnSpc>
                <a:spcPct val="110000"/>
              </a:lnSpc>
            </a:pPr>
            <a:r>
              <a:rPr sz="1400" b="1">
                <a:solidFill>
                  <a:srgbClr val="FFFFFF"/>
                </a:solidFill>
                <a:latin typeface="IBM Plex Sans"/>
              </a:rPr>
              <a:t>Makkah</a:t>
            </a:r>
          </a:p>
        </p:txBody>
      </p:sp>
      <p:sp>
        <p:nvSpPr>
          <p:cNvPr id="12" name="TextBox 11"/>
          <p:cNvSpPr txBox="1"/>
          <p:nvPr/>
        </p:nvSpPr>
        <p:spPr>
          <a:xfrm>
            <a:off x="3081527" y="2807208"/>
            <a:ext cx="1938528" cy="274320"/>
          </a:xfrm>
          <a:prstGeom prst="rect">
            <a:avLst/>
          </a:prstGeom>
          <a:noFill/>
        </p:spPr>
        <p:txBody>
          <a:bodyPr wrap="square" lIns="0" rIns="0" tIns="0" bIns="0" anchor="t">
            <a:noAutofit/>
          </a:bodyPr>
          <a:lstStyle/>
          <a:p>
            <a:pPr algn="l">
              <a:lnSpc>
                <a:spcPct val="110000"/>
              </a:lnSpc>
            </a:pPr>
            <a:r>
              <a:rPr sz="1150" b="0">
                <a:solidFill>
                  <a:srgbClr val="E5E7EB"/>
                </a:solidFill>
                <a:latin typeface="IBM Plex Sans"/>
              </a:rPr>
              <a:t>20 cars · 4 WS · 28 min</a:t>
            </a:r>
          </a:p>
        </p:txBody>
      </p:sp>
      <p:sp>
        <p:nvSpPr>
          <p:cNvPr id="13" name="Rounded Rectangle 12"/>
          <p:cNvSpPr/>
          <p:nvPr/>
        </p:nvSpPr>
        <p:spPr>
          <a:xfrm>
            <a:off x="5248656" y="2377440"/>
            <a:ext cx="2212848" cy="786384"/>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85816" y="2468880"/>
            <a:ext cx="1938528" cy="320040"/>
          </a:xfrm>
          <a:prstGeom prst="rect">
            <a:avLst/>
          </a:prstGeom>
          <a:noFill/>
        </p:spPr>
        <p:txBody>
          <a:bodyPr wrap="square" lIns="0" rIns="0" tIns="0" bIns="0" anchor="t">
            <a:noAutofit/>
          </a:bodyPr>
          <a:lstStyle/>
          <a:p>
            <a:pPr algn="l">
              <a:lnSpc>
                <a:spcPct val="110000"/>
              </a:lnSpc>
            </a:pPr>
            <a:r>
              <a:rPr sz="1400" b="1">
                <a:solidFill>
                  <a:srgbClr val="121316"/>
                </a:solidFill>
                <a:latin typeface="IBM Plex Sans"/>
              </a:rPr>
              <a:t>Madinah</a:t>
            </a:r>
          </a:p>
        </p:txBody>
      </p:sp>
      <p:sp>
        <p:nvSpPr>
          <p:cNvPr id="15" name="TextBox 14"/>
          <p:cNvSpPr txBox="1"/>
          <p:nvPr/>
        </p:nvSpPr>
        <p:spPr>
          <a:xfrm>
            <a:off x="5385816" y="2807208"/>
            <a:ext cx="1938528" cy="274320"/>
          </a:xfrm>
          <a:prstGeom prst="rect">
            <a:avLst/>
          </a:prstGeom>
          <a:noFill/>
        </p:spPr>
        <p:txBody>
          <a:bodyPr wrap="square" lIns="0" rIns="0" tIns="0" bIns="0" anchor="t">
            <a:noAutofit/>
          </a:bodyPr>
          <a:lstStyle/>
          <a:p>
            <a:pPr algn="l">
              <a:lnSpc>
                <a:spcPct val="110000"/>
              </a:lnSpc>
            </a:pPr>
            <a:r>
              <a:rPr sz="1150" b="0">
                <a:solidFill>
                  <a:srgbClr val="5B5E66"/>
                </a:solidFill>
                <a:latin typeface="IBM Plex Sans"/>
              </a:rPr>
              <a:t>9 cars · 2 WS · 32 min</a:t>
            </a:r>
          </a:p>
        </p:txBody>
      </p:sp>
      <p:sp>
        <p:nvSpPr>
          <p:cNvPr id="16" name="Rounded Rectangle 15"/>
          <p:cNvSpPr/>
          <p:nvPr/>
        </p:nvSpPr>
        <p:spPr>
          <a:xfrm>
            <a:off x="640080" y="3236976"/>
            <a:ext cx="2212848" cy="786384"/>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328416"/>
            <a:ext cx="1938528" cy="320040"/>
          </a:xfrm>
          <a:prstGeom prst="rect">
            <a:avLst/>
          </a:prstGeom>
          <a:noFill/>
        </p:spPr>
        <p:txBody>
          <a:bodyPr wrap="square" lIns="0" rIns="0" tIns="0" bIns="0" anchor="t">
            <a:noAutofit/>
          </a:bodyPr>
          <a:lstStyle/>
          <a:p>
            <a:pPr algn="l">
              <a:lnSpc>
                <a:spcPct val="110000"/>
              </a:lnSpc>
            </a:pPr>
            <a:r>
              <a:rPr sz="1400" b="1">
                <a:solidFill>
                  <a:srgbClr val="121316"/>
                </a:solidFill>
                <a:latin typeface="IBM Plex Sans"/>
              </a:rPr>
              <a:t>Al-Qassim</a:t>
            </a:r>
          </a:p>
        </p:txBody>
      </p:sp>
      <p:sp>
        <p:nvSpPr>
          <p:cNvPr id="18" name="TextBox 17"/>
          <p:cNvSpPr txBox="1"/>
          <p:nvPr/>
        </p:nvSpPr>
        <p:spPr>
          <a:xfrm>
            <a:off x="777240" y="3666744"/>
            <a:ext cx="1938528" cy="274320"/>
          </a:xfrm>
          <a:prstGeom prst="rect">
            <a:avLst/>
          </a:prstGeom>
          <a:noFill/>
        </p:spPr>
        <p:txBody>
          <a:bodyPr wrap="square" lIns="0" rIns="0" tIns="0" bIns="0" anchor="t">
            <a:noAutofit/>
          </a:bodyPr>
          <a:lstStyle/>
          <a:p>
            <a:pPr algn="l">
              <a:lnSpc>
                <a:spcPct val="110000"/>
              </a:lnSpc>
            </a:pPr>
            <a:r>
              <a:rPr sz="1150" b="0">
                <a:solidFill>
                  <a:srgbClr val="5B5E66"/>
                </a:solidFill>
                <a:latin typeface="IBM Plex Sans"/>
              </a:rPr>
              <a:t>8 cars · 2 WS · 30 min</a:t>
            </a:r>
          </a:p>
        </p:txBody>
      </p:sp>
      <p:sp>
        <p:nvSpPr>
          <p:cNvPr id="19" name="Rounded Rectangle 18"/>
          <p:cNvSpPr/>
          <p:nvPr/>
        </p:nvSpPr>
        <p:spPr>
          <a:xfrm>
            <a:off x="2944368" y="3236976"/>
            <a:ext cx="2212848" cy="786384"/>
          </a:xfrm>
          <a:prstGeom prst="roundRect">
            <a:avLst>
              <a:gd name="adj" fmla="val 12000"/>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81527" y="3328416"/>
            <a:ext cx="1938528" cy="320040"/>
          </a:xfrm>
          <a:prstGeom prst="rect">
            <a:avLst/>
          </a:prstGeom>
          <a:noFill/>
        </p:spPr>
        <p:txBody>
          <a:bodyPr wrap="square" lIns="0" rIns="0" tIns="0" bIns="0" anchor="t">
            <a:noAutofit/>
          </a:bodyPr>
          <a:lstStyle/>
          <a:p>
            <a:pPr algn="l">
              <a:lnSpc>
                <a:spcPct val="110000"/>
              </a:lnSpc>
            </a:pPr>
            <a:r>
              <a:rPr sz="1400" b="1">
                <a:solidFill>
                  <a:srgbClr val="FFFFFF"/>
                </a:solidFill>
                <a:latin typeface="IBM Plex Sans"/>
              </a:rPr>
              <a:t>Eastern Province</a:t>
            </a:r>
          </a:p>
        </p:txBody>
      </p:sp>
      <p:sp>
        <p:nvSpPr>
          <p:cNvPr id="21" name="TextBox 20"/>
          <p:cNvSpPr txBox="1"/>
          <p:nvPr/>
        </p:nvSpPr>
        <p:spPr>
          <a:xfrm>
            <a:off x="3081527" y="3666744"/>
            <a:ext cx="1938528" cy="274320"/>
          </a:xfrm>
          <a:prstGeom prst="rect">
            <a:avLst/>
          </a:prstGeom>
          <a:noFill/>
        </p:spPr>
        <p:txBody>
          <a:bodyPr wrap="square" lIns="0" rIns="0" tIns="0" bIns="0" anchor="t">
            <a:noAutofit/>
          </a:bodyPr>
          <a:lstStyle/>
          <a:p>
            <a:pPr algn="l">
              <a:lnSpc>
                <a:spcPct val="110000"/>
              </a:lnSpc>
            </a:pPr>
            <a:r>
              <a:rPr sz="1150" b="0">
                <a:solidFill>
                  <a:srgbClr val="E5E7EB"/>
                </a:solidFill>
                <a:latin typeface="IBM Plex Sans"/>
              </a:rPr>
              <a:t>18 cars · 3 WS · 27 min</a:t>
            </a:r>
          </a:p>
        </p:txBody>
      </p:sp>
      <p:sp>
        <p:nvSpPr>
          <p:cNvPr id="22" name="Rounded Rectangle 21"/>
          <p:cNvSpPr/>
          <p:nvPr/>
        </p:nvSpPr>
        <p:spPr>
          <a:xfrm>
            <a:off x="5248656" y="3236976"/>
            <a:ext cx="2212848" cy="786384"/>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85816" y="3328416"/>
            <a:ext cx="1938528" cy="320040"/>
          </a:xfrm>
          <a:prstGeom prst="rect">
            <a:avLst/>
          </a:prstGeom>
          <a:noFill/>
        </p:spPr>
        <p:txBody>
          <a:bodyPr wrap="square" lIns="0" rIns="0" tIns="0" bIns="0" anchor="t">
            <a:noAutofit/>
          </a:bodyPr>
          <a:lstStyle/>
          <a:p>
            <a:pPr algn="l">
              <a:lnSpc>
                <a:spcPct val="110000"/>
              </a:lnSpc>
            </a:pPr>
            <a:r>
              <a:rPr sz="1400" b="1">
                <a:solidFill>
                  <a:srgbClr val="121316"/>
                </a:solidFill>
                <a:latin typeface="IBM Plex Sans"/>
              </a:rPr>
              <a:t>Asir</a:t>
            </a:r>
          </a:p>
        </p:txBody>
      </p:sp>
      <p:sp>
        <p:nvSpPr>
          <p:cNvPr id="24" name="TextBox 23"/>
          <p:cNvSpPr txBox="1"/>
          <p:nvPr/>
        </p:nvSpPr>
        <p:spPr>
          <a:xfrm>
            <a:off x="5385816" y="3666744"/>
            <a:ext cx="1938528" cy="274320"/>
          </a:xfrm>
          <a:prstGeom prst="rect">
            <a:avLst/>
          </a:prstGeom>
          <a:noFill/>
        </p:spPr>
        <p:txBody>
          <a:bodyPr wrap="square" lIns="0" rIns="0" tIns="0" bIns="0" anchor="t">
            <a:noAutofit/>
          </a:bodyPr>
          <a:lstStyle/>
          <a:p>
            <a:pPr algn="l">
              <a:lnSpc>
                <a:spcPct val="110000"/>
              </a:lnSpc>
            </a:pPr>
            <a:r>
              <a:rPr sz="1150" b="0">
                <a:solidFill>
                  <a:srgbClr val="5B5E66"/>
                </a:solidFill>
                <a:latin typeface="IBM Plex Sans"/>
              </a:rPr>
              <a:t>8 cars · 2 WS · 38 min</a:t>
            </a:r>
          </a:p>
        </p:txBody>
      </p:sp>
      <p:sp>
        <p:nvSpPr>
          <p:cNvPr id="25" name="Rounded Rectangle 24"/>
          <p:cNvSpPr/>
          <p:nvPr/>
        </p:nvSpPr>
        <p:spPr>
          <a:xfrm>
            <a:off x="640080" y="4096512"/>
            <a:ext cx="2212848" cy="786384"/>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187952"/>
            <a:ext cx="1938528" cy="320040"/>
          </a:xfrm>
          <a:prstGeom prst="rect">
            <a:avLst/>
          </a:prstGeom>
          <a:noFill/>
        </p:spPr>
        <p:txBody>
          <a:bodyPr wrap="square" lIns="0" rIns="0" tIns="0" bIns="0" anchor="t">
            <a:noAutofit/>
          </a:bodyPr>
          <a:lstStyle/>
          <a:p>
            <a:pPr algn="l">
              <a:lnSpc>
                <a:spcPct val="110000"/>
              </a:lnSpc>
            </a:pPr>
            <a:r>
              <a:rPr sz="1400" b="1">
                <a:solidFill>
                  <a:srgbClr val="121316"/>
                </a:solidFill>
                <a:latin typeface="IBM Plex Sans"/>
              </a:rPr>
              <a:t>Tabuk</a:t>
            </a:r>
          </a:p>
        </p:txBody>
      </p:sp>
      <p:sp>
        <p:nvSpPr>
          <p:cNvPr id="27" name="TextBox 26"/>
          <p:cNvSpPr txBox="1"/>
          <p:nvPr/>
        </p:nvSpPr>
        <p:spPr>
          <a:xfrm>
            <a:off x="777240" y="4526280"/>
            <a:ext cx="1938528" cy="274320"/>
          </a:xfrm>
          <a:prstGeom prst="rect">
            <a:avLst/>
          </a:prstGeom>
          <a:noFill/>
        </p:spPr>
        <p:txBody>
          <a:bodyPr wrap="square" lIns="0" rIns="0" tIns="0" bIns="0" anchor="t">
            <a:noAutofit/>
          </a:bodyPr>
          <a:lstStyle/>
          <a:p>
            <a:pPr algn="l">
              <a:lnSpc>
                <a:spcPct val="110000"/>
              </a:lnSpc>
            </a:pPr>
            <a:r>
              <a:rPr sz="1150" b="0">
                <a:solidFill>
                  <a:srgbClr val="5B5E66"/>
                </a:solidFill>
                <a:latin typeface="IBM Plex Sans"/>
              </a:rPr>
              <a:t>6 cars · 1 WS · 42 min</a:t>
            </a:r>
          </a:p>
        </p:txBody>
      </p:sp>
      <p:sp>
        <p:nvSpPr>
          <p:cNvPr id="28" name="Rounded Rectangle 27"/>
          <p:cNvSpPr/>
          <p:nvPr/>
        </p:nvSpPr>
        <p:spPr>
          <a:xfrm>
            <a:off x="2944368" y="4096512"/>
            <a:ext cx="2212848" cy="786384"/>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81527" y="4187952"/>
            <a:ext cx="1938528" cy="320040"/>
          </a:xfrm>
          <a:prstGeom prst="rect">
            <a:avLst/>
          </a:prstGeom>
          <a:noFill/>
        </p:spPr>
        <p:txBody>
          <a:bodyPr wrap="square" lIns="0" rIns="0" tIns="0" bIns="0" anchor="t">
            <a:noAutofit/>
          </a:bodyPr>
          <a:lstStyle/>
          <a:p>
            <a:pPr algn="l">
              <a:lnSpc>
                <a:spcPct val="110000"/>
              </a:lnSpc>
            </a:pPr>
            <a:r>
              <a:rPr sz="1400" b="1">
                <a:solidFill>
                  <a:srgbClr val="121316"/>
                </a:solidFill>
                <a:latin typeface="IBM Plex Sans"/>
              </a:rPr>
              <a:t>Hail</a:t>
            </a:r>
          </a:p>
        </p:txBody>
      </p:sp>
      <p:sp>
        <p:nvSpPr>
          <p:cNvPr id="30" name="TextBox 29"/>
          <p:cNvSpPr txBox="1"/>
          <p:nvPr/>
        </p:nvSpPr>
        <p:spPr>
          <a:xfrm>
            <a:off x="3081527" y="4526280"/>
            <a:ext cx="1938528" cy="274320"/>
          </a:xfrm>
          <a:prstGeom prst="rect">
            <a:avLst/>
          </a:prstGeom>
          <a:noFill/>
        </p:spPr>
        <p:txBody>
          <a:bodyPr wrap="square" lIns="0" rIns="0" tIns="0" bIns="0" anchor="t">
            <a:noAutofit/>
          </a:bodyPr>
          <a:lstStyle/>
          <a:p>
            <a:pPr algn="l">
              <a:lnSpc>
                <a:spcPct val="110000"/>
              </a:lnSpc>
            </a:pPr>
            <a:r>
              <a:rPr sz="1150" b="0">
                <a:solidFill>
                  <a:srgbClr val="5B5E66"/>
                </a:solidFill>
                <a:latin typeface="IBM Plex Sans"/>
              </a:rPr>
              <a:t>6 cars · 1 WS · 40 min</a:t>
            </a:r>
          </a:p>
        </p:txBody>
      </p:sp>
      <p:sp>
        <p:nvSpPr>
          <p:cNvPr id="31" name="Rounded Rectangle 30"/>
          <p:cNvSpPr/>
          <p:nvPr/>
        </p:nvSpPr>
        <p:spPr>
          <a:xfrm>
            <a:off x="5248656" y="4096512"/>
            <a:ext cx="2212848" cy="786384"/>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85816" y="4187952"/>
            <a:ext cx="1938528" cy="320040"/>
          </a:xfrm>
          <a:prstGeom prst="rect">
            <a:avLst/>
          </a:prstGeom>
          <a:noFill/>
        </p:spPr>
        <p:txBody>
          <a:bodyPr wrap="square" lIns="0" rIns="0" tIns="0" bIns="0" anchor="t">
            <a:noAutofit/>
          </a:bodyPr>
          <a:lstStyle/>
          <a:p>
            <a:pPr algn="l">
              <a:lnSpc>
                <a:spcPct val="110000"/>
              </a:lnSpc>
            </a:pPr>
            <a:r>
              <a:rPr sz="1400" b="1">
                <a:solidFill>
                  <a:srgbClr val="121316"/>
                </a:solidFill>
                <a:latin typeface="IBM Plex Sans"/>
              </a:rPr>
              <a:t>Northern Borders</a:t>
            </a:r>
          </a:p>
        </p:txBody>
      </p:sp>
      <p:sp>
        <p:nvSpPr>
          <p:cNvPr id="33" name="TextBox 32"/>
          <p:cNvSpPr txBox="1"/>
          <p:nvPr/>
        </p:nvSpPr>
        <p:spPr>
          <a:xfrm>
            <a:off x="5385816" y="4526280"/>
            <a:ext cx="1938528" cy="274320"/>
          </a:xfrm>
          <a:prstGeom prst="rect">
            <a:avLst/>
          </a:prstGeom>
          <a:noFill/>
        </p:spPr>
        <p:txBody>
          <a:bodyPr wrap="square" lIns="0" rIns="0" tIns="0" bIns="0" anchor="t">
            <a:noAutofit/>
          </a:bodyPr>
          <a:lstStyle/>
          <a:p>
            <a:pPr algn="l">
              <a:lnSpc>
                <a:spcPct val="110000"/>
              </a:lnSpc>
            </a:pPr>
            <a:r>
              <a:rPr sz="1150" b="0">
                <a:solidFill>
                  <a:srgbClr val="5B5E66"/>
                </a:solidFill>
                <a:latin typeface="IBM Plex Sans"/>
              </a:rPr>
              <a:t>4 cars · 1 WS · 48 min</a:t>
            </a:r>
          </a:p>
        </p:txBody>
      </p:sp>
      <p:sp>
        <p:nvSpPr>
          <p:cNvPr id="34" name="Rounded Rectangle 33"/>
          <p:cNvSpPr/>
          <p:nvPr/>
        </p:nvSpPr>
        <p:spPr>
          <a:xfrm>
            <a:off x="640080" y="4956048"/>
            <a:ext cx="2212848" cy="786384"/>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047488"/>
            <a:ext cx="1938528" cy="320040"/>
          </a:xfrm>
          <a:prstGeom prst="rect">
            <a:avLst/>
          </a:prstGeom>
          <a:noFill/>
        </p:spPr>
        <p:txBody>
          <a:bodyPr wrap="square" lIns="0" rIns="0" tIns="0" bIns="0" anchor="t">
            <a:noAutofit/>
          </a:bodyPr>
          <a:lstStyle/>
          <a:p>
            <a:pPr algn="l">
              <a:lnSpc>
                <a:spcPct val="110000"/>
              </a:lnSpc>
            </a:pPr>
            <a:r>
              <a:rPr sz="1400" b="1">
                <a:solidFill>
                  <a:srgbClr val="121316"/>
                </a:solidFill>
                <a:latin typeface="IBM Plex Sans"/>
              </a:rPr>
              <a:t>Jazan</a:t>
            </a:r>
          </a:p>
        </p:txBody>
      </p:sp>
      <p:sp>
        <p:nvSpPr>
          <p:cNvPr id="36" name="TextBox 35"/>
          <p:cNvSpPr txBox="1"/>
          <p:nvPr/>
        </p:nvSpPr>
        <p:spPr>
          <a:xfrm>
            <a:off x="777240" y="5385816"/>
            <a:ext cx="1938528" cy="274320"/>
          </a:xfrm>
          <a:prstGeom prst="rect">
            <a:avLst/>
          </a:prstGeom>
          <a:noFill/>
        </p:spPr>
        <p:txBody>
          <a:bodyPr wrap="square" lIns="0" rIns="0" tIns="0" bIns="0" anchor="t">
            <a:noAutofit/>
          </a:bodyPr>
          <a:lstStyle/>
          <a:p>
            <a:pPr algn="l">
              <a:lnSpc>
                <a:spcPct val="110000"/>
              </a:lnSpc>
            </a:pPr>
            <a:r>
              <a:rPr sz="1150" b="0">
                <a:solidFill>
                  <a:srgbClr val="5B5E66"/>
                </a:solidFill>
                <a:latin typeface="IBM Plex Sans"/>
              </a:rPr>
              <a:t>6 cars · 1 WS · 40 min</a:t>
            </a:r>
          </a:p>
        </p:txBody>
      </p:sp>
      <p:sp>
        <p:nvSpPr>
          <p:cNvPr id="37" name="Rounded Rectangle 36"/>
          <p:cNvSpPr/>
          <p:nvPr/>
        </p:nvSpPr>
        <p:spPr>
          <a:xfrm>
            <a:off x="2944368" y="4956048"/>
            <a:ext cx="2212848" cy="786384"/>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81527" y="5047488"/>
            <a:ext cx="1938528" cy="320040"/>
          </a:xfrm>
          <a:prstGeom prst="rect">
            <a:avLst/>
          </a:prstGeom>
          <a:noFill/>
        </p:spPr>
        <p:txBody>
          <a:bodyPr wrap="square" lIns="0" rIns="0" tIns="0" bIns="0" anchor="t">
            <a:noAutofit/>
          </a:bodyPr>
          <a:lstStyle/>
          <a:p>
            <a:pPr algn="l">
              <a:lnSpc>
                <a:spcPct val="110000"/>
              </a:lnSpc>
            </a:pPr>
            <a:r>
              <a:rPr sz="1400" b="1">
                <a:solidFill>
                  <a:srgbClr val="121316"/>
                </a:solidFill>
                <a:latin typeface="IBM Plex Sans"/>
              </a:rPr>
              <a:t>Najran</a:t>
            </a:r>
          </a:p>
        </p:txBody>
      </p:sp>
      <p:sp>
        <p:nvSpPr>
          <p:cNvPr id="39" name="TextBox 38"/>
          <p:cNvSpPr txBox="1"/>
          <p:nvPr/>
        </p:nvSpPr>
        <p:spPr>
          <a:xfrm>
            <a:off x="3081527" y="5385816"/>
            <a:ext cx="1938528" cy="274320"/>
          </a:xfrm>
          <a:prstGeom prst="rect">
            <a:avLst/>
          </a:prstGeom>
          <a:noFill/>
        </p:spPr>
        <p:txBody>
          <a:bodyPr wrap="square" lIns="0" rIns="0" tIns="0" bIns="0" anchor="t">
            <a:noAutofit/>
          </a:bodyPr>
          <a:lstStyle/>
          <a:p>
            <a:pPr algn="l">
              <a:lnSpc>
                <a:spcPct val="110000"/>
              </a:lnSpc>
            </a:pPr>
            <a:r>
              <a:rPr sz="1150" b="0">
                <a:solidFill>
                  <a:srgbClr val="5B5E66"/>
                </a:solidFill>
                <a:latin typeface="IBM Plex Sans"/>
              </a:rPr>
              <a:t>5 cars · 1 WS · 45 min</a:t>
            </a:r>
          </a:p>
        </p:txBody>
      </p:sp>
      <p:sp>
        <p:nvSpPr>
          <p:cNvPr id="40" name="Rounded Rectangle 39"/>
          <p:cNvSpPr/>
          <p:nvPr/>
        </p:nvSpPr>
        <p:spPr>
          <a:xfrm>
            <a:off x="5248656" y="4956048"/>
            <a:ext cx="2212848" cy="786384"/>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85816" y="5047488"/>
            <a:ext cx="1938528" cy="320040"/>
          </a:xfrm>
          <a:prstGeom prst="rect">
            <a:avLst/>
          </a:prstGeom>
          <a:noFill/>
        </p:spPr>
        <p:txBody>
          <a:bodyPr wrap="square" lIns="0" rIns="0" tIns="0" bIns="0" anchor="t">
            <a:noAutofit/>
          </a:bodyPr>
          <a:lstStyle/>
          <a:p>
            <a:pPr algn="l">
              <a:lnSpc>
                <a:spcPct val="110000"/>
              </a:lnSpc>
            </a:pPr>
            <a:r>
              <a:rPr sz="1400" b="1">
                <a:solidFill>
                  <a:srgbClr val="121316"/>
                </a:solidFill>
                <a:latin typeface="IBM Plex Sans"/>
              </a:rPr>
              <a:t>Al-Baha</a:t>
            </a:r>
          </a:p>
        </p:txBody>
      </p:sp>
      <p:sp>
        <p:nvSpPr>
          <p:cNvPr id="42" name="TextBox 41"/>
          <p:cNvSpPr txBox="1"/>
          <p:nvPr/>
        </p:nvSpPr>
        <p:spPr>
          <a:xfrm>
            <a:off x="5385816" y="5385816"/>
            <a:ext cx="1938528" cy="274320"/>
          </a:xfrm>
          <a:prstGeom prst="rect">
            <a:avLst/>
          </a:prstGeom>
          <a:noFill/>
        </p:spPr>
        <p:txBody>
          <a:bodyPr wrap="square" lIns="0" rIns="0" tIns="0" bIns="0" anchor="t">
            <a:noAutofit/>
          </a:bodyPr>
          <a:lstStyle/>
          <a:p>
            <a:pPr algn="l">
              <a:lnSpc>
                <a:spcPct val="110000"/>
              </a:lnSpc>
            </a:pPr>
            <a:r>
              <a:rPr sz="1150" b="0">
                <a:solidFill>
                  <a:srgbClr val="5B5E66"/>
                </a:solidFill>
                <a:latin typeface="IBM Plex Sans"/>
              </a:rPr>
              <a:t>4 cars · 1 WS · 44 min</a:t>
            </a:r>
          </a:p>
        </p:txBody>
      </p:sp>
      <p:sp>
        <p:nvSpPr>
          <p:cNvPr id="43" name="Rounded Rectangle 42"/>
          <p:cNvSpPr/>
          <p:nvPr/>
        </p:nvSpPr>
        <p:spPr>
          <a:xfrm>
            <a:off x="640080" y="5815583"/>
            <a:ext cx="2212848" cy="786384"/>
          </a:xfrm>
          <a:prstGeom prst="roundRect">
            <a:avLst>
              <a:gd name="adj" fmla="val 12000"/>
            </a:avLst>
          </a:prstGeom>
          <a:solidFill>
            <a:srgbClr val="F7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907023"/>
            <a:ext cx="1938528" cy="320040"/>
          </a:xfrm>
          <a:prstGeom prst="rect">
            <a:avLst/>
          </a:prstGeom>
          <a:noFill/>
        </p:spPr>
        <p:txBody>
          <a:bodyPr wrap="square" lIns="0" rIns="0" tIns="0" bIns="0" anchor="t">
            <a:noAutofit/>
          </a:bodyPr>
          <a:lstStyle/>
          <a:p>
            <a:pPr algn="l">
              <a:lnSpc>
                <a:spcPct val="110000"/>
              </a:lnSpc>
            </a:pPr>
            <a:r>
              <a:rPr sz="1400" b="1">
                <a:solidFill>
                  <a:srgbClr val="121316"/>
                </a:solidFill>
                <a:latin typeface="IBM Plex Sans"/>
              </a:rPr>
              <a:t>Al-Jouf</a:t>
            </a:r>
          </a:p>
        </p:txBody>
      </p:sp>
      <p:sp>
        <p:nvSpPr>
          <p:cNvPr id="45" name="TextBox 44"/>
          <p:cNvSpPr txBox="1"/>
          <p:nvPr/>
        </p:nvSpPr>
        <p:spPr>
          <a:xfrm>
            <a:off x="777240" y="6245351"/>
            <a:ext cx="1938528" cy="274320"/>
          </a:xfrm>
          <a:prstGeom prst="rect">
            <a:avLst/>
          </a:prstGeom>
          <a:noFill/>
        </p:spPr>
        <p:txBody>
          <a:bodyPr wrap="square" lIns="0" rIns="0" tIns="0" bIns="0" anchor="t">
            <a:noAutofit/>
          </a:bodyPr>
          <a:lstStyle/>
          <a:p>
            <a:pPr algn="l">
              <a:lnSpc>
                <a:spcPct val="110000"/>
              </a:lnSpc>
            </a:pPr>
            <a:r>
              <a:rPr sz="1150" b="0">
                <a:solidFill>
                  <a:srgbClr val="5B5E66"/>
                </a:solidFill>
                <a:latin typeface="IBM Plex Sans"/>
              </a:rPr>
              <a:t>4 cars · 1 WS · 46 min</a:t>
            </a:r>
          </a:p>
        </p:txBody>
      </p:sp>
      <p:sp>
        <p:nvSpPr>
          <p:cNvPr id="46" name="Rounded Rectangle 45"/>
          <p:cNvSpPr/>
          <p:nvPr/>
        </p:nvSpPr>
        <p:spPr>
          <a:xfrm>
            <a:off x="7680960" y="914400"/>
            <a:ext cx="3931920" cy="5212080"/>
          </a:xfrm>
          <a:prstGeom prst="roundRect">
            <a:avLst>
              <a:gd name="adj" fmla="val 12000"/>
            </a:avLst>
          </a:prstGeom>
          <a:solidFill>
            <a:srgbClr val="121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0" y="1234440"/>
            <a:ext cx="3291840" cy="640080"/>
          </a:xfrm>
          <a:prstGeom prst="rect">
            <a:avLst/>
          </a:prstGeom>
          <a:noFill/>
        </p:spPr>
        <p:txBody>
          <a:bodyPr wrap="square" lIns="0" rIns="0" tIns="0" bIns="0" anchor="t">
            <a:noAutofit/>
          </a:bodyPr>
          <a:lstStyle/>
          <a:p>
            <a:pPr algn="l">
              <a:lnSpc>
                <a:spcPct val="110000"/>
              </a:lnSpc>
            </a:pPr>
            <a:r>
              <a:rPr sz="4000" b="1">
                <a:solidFill>
                  <a:srgbClr val="FFFFFF"/>
                </a:solidFill>
                <a:latin typeface="IBM Plex Sans"/>
              </a:rPr>
              <a:t>13</a:t>
            </a:r>
          </a:p>
        </p:txBody>
      </p:sp>
      <p:sp>
        <p:nvSpPr>
          <p:cNvPr id="48" name="TextBox 47"/>
          <p:cNvSpPr txBox="1"/>
          <p:nvPr/>
        </p:nvSpPr>
        <p:spPr>
          <a:xfrm>
            <a:off x="8046720" y="1892808"/>
            <a:ext cx="3291840" cy="365760"/>
          </a:xfrm>
          <a:prstGeom prst="rect">
            <a:avLst/>
          </a:prstGeom>
          <a:noFill/>
        </p:spPr>
        <p:txBody>
          <a:bodyPr wrap="square" lIns="0" rIns="0" tIns="0" bIns="0" anchor="t">
            <a:noAutofit/>
          </a:bodyPr>
          <a:lstStyle/>
          <a:p>
            <a:pPr algn="l">
              <a:lnSpc>
                <a:spcPct val="110000"/>
              </a:lnSpc>
            </a:pPr>
            <a:r>
              <a:rPr sz="1400" b="0">
                <a:solidFill>
                  <a:srgbClr val="E5E7EB"/>
                </a:solidFill>
                <a:latin typeface="IBM Plex Sans"/>
              </a:rPr>
              <a:t>regions covered</a:t>
            </a:r>
          </a:p>
        </p:txBody>
      </p:sp>
      <p:sp>
        <p:nvSpPr>
          <p:cNvPr id="49" name="TextBox 48"/>
          <p:cNvSpPr txBox="1"/>
          <p:nvPr/>
        </p:nvSpPr>
        <p:spPr>
          <a:xfrm>
            <a:off x="8046720" y="2441448"/>
            <a:ext cx="3291840" cy="640080"/>
          </a:xfrm>
          <a:prstGeom prst="rect">
            <a:avLst/>
          </a:prstGeom>
          <a:noFill/>
        </p:spPr>
        <p:txBody>
          <a:bodyPr wrap="square" lIns="0" rIns="0" tIns="0" bIns="0" anchor="t">
            <a:noAutofit/>
          </a:bodyPr>
          <a:lstStyle/>
          <a:p>
            <a:pPr algn="l">
              <a:lnSpc>
                <a:spcPct val="110000"/>
              </a:lnSpc>
            </a:pPr>
            <a:r>
              <a:rPr sz="4000" b="1">
                <a:solidFill>
                  <a:srgbClr val="E05A5F"/>
                </a:solidFill>
                <a:latin typeface="IBM Plex Sans"/>
              </a:rPr>
              <a:t>120</a:t>
            </a:r>
          </a:p>
        </p:txBody>
      </p:sp>
      <p:sp>
        <p:nvSpPr>
          <p:cNvPr id="50" name="TextBox 49"/>
          <p:cNvSpPr txBox="1"/>
          <p:nvPr/>
        </p:nvSpPr>
        <p:spPr>
          <a:xfrm>
            <a:off x="8046720" y="3099815"/>
            <a:ext cx="3291840" cy="365760"/>
          </a:xfrm>
          <a:prstGeom prst="rect">
            <a:avLst/>
          </a:prstGeom>
          <a:noFill/>
        </p:spPr>
        <p:txBody>
          <a:bodyPr wrap="square" lIns="0" rIns="0" tIns="0" bIns="0" anchor="t">
            <a:noAutofit/>
          </a:bodyPr>
          <a:lstStyle/>
          <a:p>
            <a:pPr algn="l">
              <a:lnSpc>
                <a:spcPct val="110000"/>
              </a:lnSpc>
            </a:pPr>
            <a:r>
              <a:rPr sz="1400" b="0">
                <a:solidFill>
                  <a:srgbClr val="E5E7EB"/>
                </a:solidFill>
                <a:latin typeface="IBM Plex Sans"/>
              </a:rPr>
              <a:t>replacement cars</a:t>
            </a:r>
          </a:p>
        </p:txBody>
      </p:sp>
      <p:sp>
        <p:nvSpPr>
          <p:cNvPr id="51" name="TextBox 50"/>
          <p:cNvSpPr txBox="1"/>
          <p:nvPr/>
        </p:nvSpPr>
        <p:spPr>
          <a:xfrm>
            <a:off x="8046720" y="3648456"/>
            <a:ext cx="3291840" cy="640080"/>
          </a:xfrm>
          <a:prstGeom prst="rect">
            <a:avLst/>
          </a:prstGeom>
          <a:noFill/>
        </p:spPr>
        <p:txBody>
          <a:bodyPr wrap="square" lIns="0" rIns="0" tIns="0" bIns="0" anchor="t">
            <a:noAutofit/>
          </a:bodyPr>
          <a:lstStyle/>
          <a:p>
            <a:pPr algn="l">
              <a:lnSpc>
                <a:spcPct val="110000"/>
              </a:lnSpc>
            </a:pPr>
            <a:r>
              <a:rPr sz="4000" b="1">
                <a:solidFill>
                  <a:srgbClr val="FFFFFF"/>
                </a:solidFill>
                <a:latin typeface="IBM Plex Sans"/>
              </a:rPr>
              <a:t>24</a:t>
            </a:r>
          </a:p>
        </p:txBody>
      </p:sp>
      <p:sp>
        <p:nvSpPr>
          <p:cNvPr id="52" name="TextBox 51"/>
          <p:cNvSpPr txBox="1"/>
          <p:nvPr/>
        </p:nvSpPr>
        <p:spPr>
          <a:xfrm>
            <a:off x="8046720" y="4306824"/>
            <a:ext cx="3291840" cy="365760"/>
          </a:xfrm>
          <a:prstGeom prst="rect">
            <a:avLst/>
          </a:prstGeom>
          <a:noFill/>
        </p:spPr>
        <p:txBody>
          <a:bodyPr wrap="square" lIns="0" rIns="0" tIns="0" bIns="0" anchor="t">
            <a:noAutofit/>
          </a:bodyPr>
          <a:lstStyle/>
          <a:p>
            <a:pPr algn="l">
              <a:lnSpc>
                <a:spcPct val="110000"/>
              </a:lnSpc>
            </a:pPr>
            <a:r>
              <a:rPr sz="1400" b="0">
                <a:solidFill>
                  <a:srgbClr val="E5E7EB"/>
                </a:solidFill>
                <a:latin typeface="IBM Plex Sans"/>
              </a:rPr>
              <a:t>partner workshops</a:t>
            </a:r>
          </a:p>
        </p:txBody>
      </p:sp>
      <p:sp>
        <p:nvSpPr>
          <p:cNvPr id="53" name="TextBox 52"/>
          <p:cNvSpPr txBox="1"/>
          <p:nvPr/>
        </p:nvSpPr>
        <p:spPr>
          <a:xfrm>
            <a:off x="8046720" y="4855464"/>
            <a:ext cx="3291840" cy="640080"/>
          </a:xfrm>
          <a:prstGeom prst="rect">
            <a:avLst/>
          </a:prstGeom>
          <a:noFill/>
        </p:spPr>
        <p:txBody>
          <a:bodyPr wrap="square" lIns="0" rIns="0" tIns="0" bIns="0" anchor="t">
            <a:noAutofit/>
          </a:bodyPr>
          <a:lstStyle/>
          <a:p>
            <a:pPr algn="l">
              <a:lnSpc>
                <a:spcPct val="110000"/>
              </a:lnSpc>
            </a:pPr>
            <a:r>
              <a:rPr sz="4000" b="1">
                <a:solidFill>
                  <a:srgbClr val="E05A5F"/>
                </a:solidFill>
                <a:latin typeface="IBM Plex Sans"/>
              </a:rPr>
              <a:t>25–48</a:t>
            </a:r>
          </a:p>
        </p:txBody>
      </p:sp>
      <p:sp>
        <p:nvSpPr>
          <p:cNvPr id="54" name="TextBox 53"/>
          <p:cNvSpPr txBox="1"/>
          <p:nvPr/>
        </p:nvSpPr>
        <p:spPr>
          <a:xfrm>
            <a:off x="8046720" y="5513832"/>
            <a:ext cx="3291840" cy="365760"/>
          </a:xfrm>
          <a:prstGeom prst="rect">
            <a:avLst/>
          </a:prstGeom>
          <a:noFill/>
        </p:spPr>
        <p:txBody>
          <a:bodyPr wrap="square" lIns="0" rIns="0" tIns="0" bIns="0" anchor="t">
            <a:noAutofit/>
          </a:bodyPr>
          <a:lstStyle/>
          <a:p>
            <a:pPr algn="l">
              <a:lnSpc>
                <a:spcPct val="110000"/>
              </a:lnSpc>
            </a:pPr>
            <a:r>
              <a:rPr sz="1400" b="0">
                <a:solidFill>
                  <a:srgbClr val="E5E7EB"/>
                </a:solidFill>
                <a:latin typeface="IBM Plex Sans"/>
              </a:rPr>
              <a:t>min target arrival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316"/>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1274552" y="274320"/>
            <a:ext cx="527830" cy="566928"/>
          </a:xfrm>
          <a:prstGeom prst="rect">
            <a:avLst/>
          </a:prstGeom>
        </p:spPr>
      </p:pic>
      <p:sp>
        <p:nvSpPr>
          <p:cNvPr id="3" name="TextBox 2"/>
          <p:cNvSpPr txBox="1"/>
          <p:nvPr/>
        </p:nvSpPr>
        <p:spPr>
          <a:xfrm>
            <a:off x="11155680" y="6355080"/>
            <a:ext cx="731520" cy="274320"/>
          </a:xfrm>
          <a:prstGeom prst="rect">
            <a:avLst/>
          </a:prstGeom>
          <a:noFill/>
        </p:spPr>
        <p:txBody>
          <a:bodyPr wrap="square" lIns="0" rIns="0" tIns="0" bIns="0" anchor="t">
            <a:noAutofit/>
          </a:bodyPr>
          <a:lstStyle/>
          <a:p>
            <a:pPr algn="r">
              <a:lnSpc>
                <a:spcPct val="110000"/>
              </a:lnSpc>
            </a:pPr>
            <a:r>
              <a:rPr sz="1200" b="0">
                <a:solidFill>
                  <a:srgbClr val="E5E7EB"/>
                </a:solidFill>
                <a:latin typeface="IBM Plex Sans"/>
              </a:rPr>
              <a:t>6</a:t>
            </a:r>
          </a:p>
        </p:txBody>
      </p:sp>
      <p:sp>
        <p:nvSpPr>
          <p:cNvPr id="4" name="TextBox 3"/>
          <p:cNvSpPr txBox="1"/>
          <p:nvPr/>
        </p:nvSpPr>
        <p:spPr>
          <a:xfrm>
            <a:off x="640080" y="502920"/>
            <a:ext cx="10058400" cy="32004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MOBILE-FIRST PWA &amp; TECH STACK</a:t>
            </a:r>
          </a:p>
        </p:txBody>
      </p:sp>
      <p:sp>
        <p:nvSpPr>
          <p:cNvPr id="5" name="TextBox 4"/>
          <p:cNvSpPr txBox="1"/>
          <p:nvPr/>
        </p:nvSpPr>
        <p:spPr>
          <a:xfrm>
            <a:off x="640080" y="822960"/>
            <a:ext cx="10058400" cy="1005840"/>
          </a:xfrm>
          <a:prstGeom prst="rect">
            <a:avLst/>
          </a:prstGeom>
          <a:noFill/>
        </p:spPr>
        <p:txBody>
          <a:bodyPr wrap="square" lIns="0" rIns="0" tIns="0" bIns="0" anchor="t">
            <a:noAutofit/>
          </a:bodyPr>
          <a:lstStyle/>
          <a:p>
            <a:pPr algn="l">
              <a:lnSpc>
                <a:spcPct val="100000"/>
              </a:lnSpc>
            </a:pPr>
            <a:r>
              <a:rPr sz="3400" b="1">
                <a:solidFill>
                  <a:srgbClr val="FFFFFF"/>
                </a:solidFill>
                <a:latin typeface="IBM Plex Sans"/>
              </a:rPr>
              <a:t>Built for a stressed driver on the roadside</a:t>
            </a:r>
          </a:p>
        </p:txBody>
      </p:sp>
      <p:sp>
        <p:nvSpPr>
          <p:cNvPr id="6" name="Rounded Rectangle 5"/>
          <p:cNvSpPr/>
          <p:nvPr/>
        </p:nvSpPr>
        <p:spPr>
          <a:xfrm>
            <a:off x="640080" y="2148840"/>
            <a:ext cx="3474720" cy="3931920"/>
          </a:xfrm>
          <a:prstGeom prst="roundRect">
            <a:avLst>
              <a:gd name="adj" fmla="val 12000"/>
            </a:avLst>
          </a:prstGeom>
          <a:solidFill>
            <a:srgbClr val="1C1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48840"/>
            <a:ext cx="3474720" cy="91440"/>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68880"/>
            <a:ext cx="3017520" cy="457200"/>
          </a:xfrm>
          <a:prstGeom prst="rect">
            <a:avLst/>
          </a:prstGeom>
          <a:noFill/>
        </p:spPr>
        <p:txBody>
          <a:bodyPr wrap="square" lIns="0" rIns="0" tIns="0" bIns="0" anchor="t">
            <a:noAutofit/>
          </a:bodyPr>
          <a:lstStyle/>
          <a:p>
            <a:pPr algn="l">
              <a:lnSpc>
                <a:spcPct val="110000"/>
              </a:lnSpc>
            </a:pPr>
            <a:r>
              <a:rPr sz="2000" b="1">
                <a:solidFill>
                  <a:srgbClr val="FFFFFF"/>
                </a:solidFill>
                <a:latin typeface="IBM Plex Sans"/>
              </a:rPr>
              <a:t>TypeScript PWA</a:t>
            </a:r>
          </a:p>
        </p:txBody>
      </p:sp>
      <p:sp>
        <p:nvSpPr>
          <p:cNvPr id="9" name="TextBox 8"/>
          <p:cNvSpPr txBox="1"/>
          <p:nvPr/>
        </p:nvSpPr>
        <p:spPr>
          <a:xfrm>
            <a:off x="914400" y="3154680"/>
            <a:ext cx="3017520" cy="2743200"/>
          </a:xfrm>
          <a:prstGeom prst="rect">
            <a:avLst/>
          </a:prstGeom>
          <a:noFill/>
        </p:spPr>
        <p:txBody>
          <a:bodyPr wrap="square" lIns="0" rIns="0" tIns="0" bIns="0" anchor="t">
            <a:noAutofit/>
          </a:bodyPr>
          <a:lstStyle/>
          <a:p>
            <a:pPr algn="l">
              <a:lnSpc>
                <a:spcPct val="110000"/>
              </a:lnSpc>
              <a:spcAft>
                <a:spcPts val="1000"/>
              </a:spcAft>
            </a:pPr>
            <a:r>
              <a:rPr sz="1500" b="0">
                <a:solidFill>
                  <a:srgbClr val="E5E7EB"/>
                </a:solidFill>
                <a:latin typeface="IBM Plex Sans"/>
              </a:rPr>
              <a:t>—  Vite + React + TypeScript</a:t>
            </a:r>
          </a:p>
          <a:p>
            <a:pPr algn="l">
              <a:lnSpc>
                <a:spcPct val="110000"/>
              </a:lnSpc>
              <a:spcAft>
                <a:spcPts val="1000"/>
              </a:spcAft>
            </a:pPr>
            <a:r>
              <a:rPr sz="1500" b="0">
                <a:solidFill>
                  <a:srgbClr val="E5E7EB"/>
                </a:solidFill>
                <a:latin typeface="IBM Plex Sans"/>
              </a:rPr>
              <a:t>—  Installable, phone-sized layout (430 px)</a:t>
            </a:r>
          </a:p>
          <a:p>
            <a:pPr algn="l">
              <a:lnSpc>
                <a:spcPct val="110000"/>
              </a:lnSpc>
              <a:spcAft>
                <a:spcPts val="1000"/>
              </a:spcAft>
            </a:pPr>
            <a:r>
              <a:rPr sz="1500" b="0">
                <a:solidFill>
                  <a:srgbClr val="E5E7EB"/>
                </a:solidFill>
                <a:latin typeface="IBM Plex Sans"/>
              </a:rPr>
              <a:t>—  Oversized 60 px touch targets</a:t>
            </a:r>
          </a:p>
          <a:p>
            <a:pPr algn="l">
              <a:lnSpc>
                <a:spcPct val="110000"/>
              </a:lnSpc>
              <a:spcAft>
                <a:spcPts val="1000"/>
              </a:spcAft>
            </a:pPr>
            <a:r>
              <a:rPr sz="1500" b="0">
                <a:solidFill>
                  <a:srgbClr val="E5E7EB"/>
                </a:solidFill>
                <a:latin typeface="IBM Plex Sans"/>
              </a:rPr>
              <a:t>—  Pulsing one-tap SOS button</a:t>
            </a:r>
          </a:p>
        </p:txBody>
      </p:sp>
      <p:sp>
        <p:nvSpPr>
          <p:cNvPr id="10" name="Rounded Rectangle 9"/>
          <p:cNvSpPr/>
          <p:nvPr/>
        </p:nvSpPr>
        <p:spPr>
          <a:xfrm>
            <a:off x="4343400" y="2148840"/>
            <a:ext cx="3474720" cy="3931920"/>
          </a:xfrm>
          <a:prstGeom prst="roundRect">
            <a:avLst>
              <a:gd name="adj" fmla="val 12000"/>
            </a:avLst>
          </a:prstGeom>
          <a:solidFill>
            <a:srgbClr val="1C1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2148840"/>
            <a:ext cx="3474720" cy="91440"/>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468880"/>
            <a:ext cx="3017520" cy="457200"/>
          </a:xfrm>
          <a:prstGeom prst="rect">
            <a:avLst/>
          </a:prstGeom>
          <a:noFill/>
        </p:spPr>
        <p:txBody>
          <a:bodyPr wrap="square" lIns="0" rIns="0" tIns="0" bIns="0" anchor="t">
            <a:noAutofit/>
          </a:bodyPr>
          <a:lstStyle/>
          <a:p>
            <a:pPr algn="l">
              <a:lnSpc>
                <a:spcPct val="110000"/>
              </a:lnSpc>
            </a:pPr>
            <a:r>
              <a:rPr sz="2000" b="1">
                <a:solidFill>
                  <a:srgbClr val="FFFFFF"/>
                </a:solidFill>
                <a:latin typeface="IBM Plex Sans"/>
              </a:rPr>
              <a:t>Bilingual &amp; tactile</a:t>
            </a:r>
          </a:p>
        </p:txBody>
      </p:sp>
      <p:sp>
        <p:nvSpPr>
          <p:cNvPr id="13" name="TextBox 12"/>
          <p:cNvSpPr txBox="1"/>
          <p:nvPr/>
        </p:nvSpPr>
        <p:spPr>
          <a:xfrm>
            <a:off x="4617720" y="3154680"/>
            <a:ext cx="3017520" cy="2743200"/>
          </a:xfrm>
          <a:prstGeom prst="rect">
            <a:avLst/>
          </a:prstGeom>
          <a:noFill/>
        </p:spPr>
        <p:txBody>
          <a:bodyPr wrap="square" lIns="0" rIns="0" tIns="0" bIns="0" anchor="t">
            <a:noAutofit/>
          </a:bodyPr>
          <a:lstStyle/>
          <a:p>
            <a:pPr algn="l">
              <a:lnSpc>
                <a:spcPct val="110000"/>
              </a:lnSpc>
              <a:spcAft>
                <a:spcPts val="1000"/>
              </a:spcAft>
            </a:pPr>
            <a:r>
              <a:rPr sz="1500" b="0">
                <a:solidFill>
                  <a:srgbClr val="E5E7EB"/>
                </a:solidFill>
                <a:latin typeface="IBM Plex Sans"/>
              </a:rPr>
              <a:t>—  Arabic RTL / English LTR, one tap</a:t>
            </a:r>
          </a:p>
          <a:p>
            <a:pPr algn="l">
              <a:lnSpc>
                <a:spcPct val="110000"/>
              </a:lnSpc>
              <a:spcAft>
                <a:spcPts val="1000"/>
              </a:spcAft>
            </a:pPr>
            <a:r>
              <a:rPr sz="1500" b="0">
                <a:solidFill>
                  <a:srgbClr val="E5E7EB"/>
                </a:solidFill>
                <a:latin typeface="IBM Plex Sans"/>
              </a:rPr>
              <a:t>—  IBM Plex Sans Arabic + IBM Plex Sans</a:t>
            </a:r>
          </a:p>
          <a:p>
            <a:pPr algn="l">
              <a:lnSpc>
                <a:spcPct val="110000"/>
              </a:lnSpc>
              <a:spcAft>
                <a:spcPts val="1000"/>
              </a:spcAft>
            </a:pPr>
            <a:r>
              <a:rPr sz="1500" b="0">
                <a:solidFill>
                  <a:srgbClr val="E5E7EB"/>
                </a:solidFill>
                <a:latin typeface="IBM Plex Sans"/>
              </a:rPr>
              <a:t>—  Web Audio click, SOS and step tones</a:t>
            </a:r>
          </a:p>
          <a:p>
            <a:pPr algn="l">
              <a:lnSpc>
                <a:spcPct val="110000"/>
              </a:lnSpc>
              <a:spcAft>
                <a:spcPts val="1000"/>
              </a:spcAft>
            </a:pPr>
            <a:r>
              <a:rPr sz="1500" b="0">
                <a:solidFill>
                  <a:srgbClr val="E5E7EB"/>
                </a:solidFill>
                <a:latin typeface="IBM Plex Sans"/>
              </a:rPr>
              <a:t>—  SVG vector icons only</a:t>
            </a:r>
          </a:p>
        </p:txBody>
      </p:sp>
      <p:sp>
        <p:nvSpPr>
          <p:cNvPr id="14" name="Rounded Rectangle 13"/>
          <p:cNvSpPr/>
          <p:nvPr/>
        </p:nvSpPr>
        <p:spPr>
          <a:xfrm>
            <a:off x="8046719" y="2148840"/>
            <a:ext cx="3474720" cy="3931920"/>
          </a:xfrm>
          <a:prstGeom prst="roundRect">
            <a:avLst>
              <a:gd name="adj" fmla="val 12000"/>
            </a:avLst>
          </a:prstGeom>
          <a:solidFill>
            <a:srgbClr val="1C1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19" y="2148840"/>
            <a:ext cx="3474720" cy="91440"/>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2468880"/>
            <a:ext cx="3017520" cy="457200"/>
          </a:xfrm>
          <a:prstGeom prst="rect">
            <a:avLst/>
          </a:prstGeom>
          <a:noFill/>
        </p:spPr>
        <p:txBody>
          <a:bodyPr wrap="square" lIns="0" rIns="0" tIns="0" bIns="0" anchor="t">
            <a:noAutofit/>
          </a:bodyPr>
          <a:lstStyle/>
          <a:p>
            <a:pPr algn="l">
              <a:lnSpc>
                <a:spcPct val="110000"/>
              </a:lnSpc>
            </a:pPr>
            <a:r>
              <a:rPr sz="2000" b="1">
                <a:solidFill>
                  <a:srgbClr val="FFFFFF"/>
                </a:solidFill>
                <a:latin typeface="IBM Plex Sans"/>
              </a:rPr>
              <a:t>Supabase + Vercel</a:t>
            </a:r>
          </a:p>
        </p:txBody>
      </p:sp>
      <p:sp>
        <p:nvSpPr>
          <p:cNvPr id="17" name="TextBox 16"/>
          <p:cNvSpPr txBox="1"/>
          <p:nvPr/>
        </p:nvSpPr>
        <p:spPr>
          <a:xfrm>
            <a:off x="8321040" y="3154680"/>
            <a:ext cx="3017520" cy="2743200"/>
          </a:xfrm>
          <a:prstGeom prst="rect">
            <a:avLst/>
          </a:prstGeom>
          <a:noFill/>
        </p:spPr>
        <p:txBody>
          <a:bodyPr wrap="square" lIns="0" rIns="0" tIns="0" bIns="0" anchor="t">
            <a:noAutofit/>
          </a:bodyPr>
          <a:lstStyle/>
          <a:p>
            <a:pPr algn="l">
              <a:lnSpc>
                <a:spcPct val="110000"/>
              </a:lnSpc>
              <a:spcAft>
                <a:spcPts val="1000"/>
              </a:spcAft>
            </a:pPr>
            <a:r>
              <a:rPr sz="1500" b="0">
                <a:solidFill>
                  <a:srgbClr val="E5E7EB"/>
                </a:solidFill>
                <a:latin typeface="IBM Plex Sans"/>
              </a:rPr>
              <a:t>—  PostgreSQL through PostgREST</a:t>
            </a:r>
          </a:p>
          <a:p>
            <a:pPr algn="l">
              <a:lnSpc>
                <a:spcPct val="110000"/>
              </a:lnSpc>
              <a:spcAft>
                <a:spcPts val="1000"/>
              </a:spcAft>
            </a:pPr>
            <a:r>
              <a:rPr sz="1500" b="0">
                <a:solidFill>
                  <a:srgbClr val="E5E7EB"/>
                </a:solidFill>
                <a:latin typeface="IBM Plex Sans"/>
              </a:rPr>
              <a:t>—  Realtime updates on the tracker</a:t>
            </a:r>
          </a:p>
          <a:p>
            <a:pPr algn="l">
              <a:lnSpc>
                <a:spcPct val="110000"/>
              </a:lnSpc>
              <a:spcAft>
                <a:spcPts val="1000"/>
              </a:spcAft>
            </a:pPr>
            <a:r>
              <a:rPr sz="1500" b="0">
                <a:solidFill>
                  <a:srgbClr val="E5E7EB"/>
                </a:solidFill>
                <a:latin typeface="IBM Plex Sans"/>
              </a:rPr>
              <a:t>—  Seeded local state works offline</a:t>
            </a:r>
          </a:p>
          <a:p>
            <a:pPr algn="l">
              <a:lnSpc>
                <a:spcPct val="110000"/>
              </a:lnSpc>
              <a:spcAft>
                <a:spcPts val="1000"/>
              </a:spcAft>
            </a:pPr>
            <a:r>
              <a:rPr sz="1500" b="0">
                <a:solidFill>
                  <a:srgbClr val="E5E7EB"/>
                </a:solidFill>
                <a:latin typeface="IBM Plex Sans"/>
              </a:rPr>
              <a:t>—  Zero-config Vercel deployment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1274552" y="274320"/>
            <a:ext cx="527830" cy="566928"/>
          </a:xfrm>
          <a:prstGeom prst="rect">
            <a:avLst/>
          </a:prstGeom>
        </p:spPr>
      </p:pic>
      <p:sp>
        <p:nvSpPr>
          <p:cNvPr id="3" name="TextBox 2"/>
          <p:cNvSpPr txBox="1"/>
          <p:nvPr/>
        </p:nvSpPr>
        <p:spPr>
          <a:xfrm>
            <a:off x="11155680" y="6355080"/>
            <a:ext cx="731520" cy="274320"/>
          </a:xfrm>
          <a:prstGeom prst="rect">
            <a:avLst/>
          </a:prstGeom>
          <a:noFill/>
        </p:spPr>
        <p:txBody>
          <a:bodyPr wrap="square" lIns="0" rIns="0" tIns="0" bIns="0" anchor="t">
            <a:noAutofit/>
          </a:bodyPr>
          <a:lstStyle/>
          <a:p>
            <a:pPr algn="r">
              <a:lnSpc>
                <a:spcPct val="110000"/>
              </a:lnSpc>
            </a:pPr>
            <a:r>
              <a:rPr sz="1200" b="0">
                <a:solidFill>
                  <a:srgbClr val="5B5E66"/>
                </a:solidFill>
                <a:latin typeface="IBM Plex Sans"/>
              </a:rPr>
              <a:t>7</a:t>
            </a:r>
          </a:p>
        </p:txBody>
      </p:sp>
      <p:sp>
        <p:nvSpPr>
          <p:cNvPr id="4" name="TextBox 3"/>
          <p:cNvSpPr txBox="1"/>
          <p:nvPr/>
        </p:nvSpPr>
        <p:spPr>
          <a:xfrm>
            <a:off x="640080" y="502920"/>
            <a:ext cx="5852160" cy="32004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APP WALKTHROUGH</a:t>
            </a:r>
          </a:p>
        </p:txBody>
      </p:sp>
      <p:sp>
        <p:nvSpPr>
          <p:cNvPr id="5" name="TextBox 4"/>
          <p:cNvSpPr txBox="1"/>
          <p:nvPr/>
        </p:nvSpPr>
        <p:spPr>
          <a:xfrm>
            <a:off x="640080" y="822960"/>
            <a:ext cx="5852160" cy="1005840"/>
          </a:xfrm>
          <a:prstGeom prst="rect">
            <a:avLst/>
          </a:prstGeom>
          <a:noFill/>
        </p:spPr>
        <p:txBody>
          <a:bodyPr wrap="square" lIns="0" rIns="0" tIns="0" bIns="0" anchor="t">
            <a:noAutofit/>
          </a:bodyPr>
          <a:lstStyle/>
          <a:p>
            <a:pPr algn="l">
              <a:lnSpc>
                <a:spcPct val="100000"/>
              </a:lnSpc>
            </a:pPr>
            <a:r>
              <a:rPr sz="3400" b="1">
                <a:solidFill>
                  <a:srgbClr val="121316"/>
                </a:solidFill>
                <a:latin typeface="IBM Plex Sans"/>
              </a:rPr>
              <a:t>One-tap SOS &amp; car selection</a:t>
            </a:r>
          </a:p>
        </p:txBody>
      </p:sp>
      <p:pic>
        <p:nvPicPr>
          <p:cNvPr id="6" name="Picture 5" descr="c_sos_pair.png"/>
          <p:cNvPicPr>
            <a:picLocks noChangeAspect="1"/>
          </p:cNvPicPr>
          <p:nvPr/>
        </p:nvPicPr>
        <p:blipFill>
          <a:blip r:embed="rId3"/>
          <a:stretch>
            <a:fillRect/>
          </a:stretch>
        </p:blipFill>
        <p:spPr>
          <a:xfrm>
            <a:off x="5989320" y="1234440"/>
            <a:ext cx="5524500" cy="4572000"/>
          </a:xfrm>
          <a:prstGeom prst="rect">
            <a:avLst/>
          </a:prstGeom>
        </p:spPr>
      </p:pic>
      <p:sp>
        <p:nvSpPr>
          <p:cNvPr id="7" name="Oval 6"/>
          <p:cNvSpPr/>
          <p:nvPr/>
        </p:nvSpPr>
        <p:spPr>
          <a:xfrm>
            <a:off x="640080" y="2139696"/>
            <a:ext cx="384048" cy="384048"/>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39696"/>
            <a:ext cx="384048" cy="384048"/>
          </a:xfrm>
          <a:prstGeom prst="rect">
            <a:avLst/>
          </a:prstGeom>
          <a:noFill/>
        </p:spPr>
        <p:txBody>
          <a:bodyPr wrap="square" lIns="0" rIns="0" tIns="0" bIns="0" anchor="ctr">
            <a:noAutofit/>
          </a:bodyPr>
          <a:lstStyle/>
          <a:p>
            <a:pPr algn="ctr">
              <a:lnSpc>
                <a:spcPct val="110000"/>
              </a:lnSpc>
            </a:pPr>
            <a:r>
              <a:rPr sz="1400" b="1">
                <a:solidFill>
                  <a:srgbClr val="FFFFFF"/>
                </a:solidFill>
                <a:latin typeface="IBM Plex Sans"/>
              </a:rPr>
              <a:t>1</a:t>
            </a:r>
          </a:p>
        </p:txBody>
      </p:sp>
      <p:sp>
        <p:nvSpPr>
          <p:cNvPr id="9" name="TextBox 8"/>
          <p:cNvSpPr txBox="1"/>
          <p:nvPr/>
        </p:nvSpPr>
        <p:spPr>
          <a:xfrm>
            <a:off x="1188720" y="2103120"/>
            <a:ext cx="4572000" cy="365760"/>
          </a:xfrm>
          <a:prstGeom prst="rect">
            <a:avLst/>
          </a:prstGeom>
          <a:noFill/>
        </p:spPr>
        <p:txBody>
          <a:bodyPr wrap="square" lIns="0" rIns="0" tIns="0" bIns="0" anchor="t">
            <a:noAutofit/>
          </a:bodyPr>
          <a:lstStyle/>
          <a:p>
            <a:pPr algn="l">
              <a:lnSpc>
                <a:spcPct val="110000"/>
              </a:lnSpc>
            </a:pPr>
            <a:r>
              <a:rPr sz="1700" b="1">
                <a:solidFill>
                  <a:srgbClr val="121316"/>
                </a:solidFill>
                <a:latin typeface="IBM Plex Sans"/>
              </a:rPr>
              <a:t>Request Fazaa Now</a:t>
            </a:r>
          </a:p>
        </p:txBody>
      </p:sp>
      <p:sp>
        <p:nvSpPr>
          <p:cNvPr id="10" name="TextBox 9"/>
          <p:cNvSpPr txBox="1"/>
          <p:nvPr/>
        </p:nvSpPr>
        <p:spPr>
          <a:xfrm>
            <a:off x="1188720" y="2468879"/>
            <a:ext cx="4572000" cy="548640"/>
          </a:xfrm>
          <a:prstGeom prst="rect">
            <a:avLst/>
          </a:prstGeom>
          <a:noFill/>
        </p:spPr>
        <p:txBody>
          <a:bodyPr wrap="square" lIns="0" rIns="0" tIns="0" bIns="0" anchor="t">
            <a:noAutofit/>
          </a:bodyPr>
          <a:lstStyle/>
          <a:p>
            <a:pPr algn="l">
              <a:lnSpc>
                <a:spcPct val="110000"/>
              </a:lnSpc>
            </a:pPr>
            <a:r>
              <a:rPr sz="1350" b="0">
                <a:solidFill>
                  <a:srgbClr val="5B5E66"/>
                </a:solidFill>
                <a:latin typeface="IBM Plex Sans"/>
              </a:rPr>
              <a:t>The pulsing button sends the request with smart defaults in a single tap.</a:t>
            </a:r>
          </a:p>
        </p:txBody>
      </p:sp>
      <p:sp>
        <p:nvSpPr>
          <p:cNvPr id="11" name="Oval 10"/>
          <p:cNvSpPr/>
          <p:nvPr/>
        </p:nvSpPr>
        <p:spPr>
          <a:xfrm>
            <a:off x="640080" y="3163824"/>
            <a:ext cx="384048" cy="384048"/>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163824"/>
            <a:ext cx="384048" cy="384048"/>
          </a:xfrm>
          <a:prstGeom prst="rect">
            <a:avLst/>
          </a:prstGeom>
          <a:noFill/>
        </p:spPr>
        <p:txBody>
          <a:bodyPr wrap="square" lIns="0" rIns="0" tIns="0" bIns="0" anchor="ctr">
            <a:noAutofit/>
          </a:bodyPr>
          <a:lstStyle/>
          <a:p>
            <a:pPr algn="ctr">
              <a:lnSpc>
                <a:spcPct val="110000"/>
              </a:lnSpc>
            </a:pPr>
            <a:r>
              <a:rPr sz="1400" b="1">
                <a:solidFill>
                  <a:srgbClr val="FFFFFF"/>
                </a:solidFill>
                <a:latin typeface="IBM Plex Sans"/>
              </a:rPr>
              <a:t>2</a:t>
            </a:r>
          </a:p>
        </p:txBody>
      </p:sp>
      <p:sp>
        <p:nvSpPr>
          <p:cNvPr id="13" name="TextBox 12"/>
          <p:cNvSpPr txBox="1"/>
          <p:nvPr/>
        </p:nvSpPr>
        <p:spPr>
          <a:xfrm>
            <a:off x="1188720" y="3127248"/>
            <a:ext cx="4572000" cy="365760"/>
          </a:xfrm>
          <a:prstGeom prst="rect">
            <a:avLst/>
          </a:prstGeom>
          <a:noFill/>
        </p:spPr>
        <p:txBody>
          <a:bodyPr wrap="square" lIns="0" rIns="0" tIns="0" bIns="0" anchor="t">
            <a:noAutofit/>
          </a:bodyPr>
          <a:lstStyle/>
          <a:p>
            <a:pPr algn="l">
              <a:lnSpc>
                <a:spcPct val="110000"/>
              </a:lnSpc>
            </a:pPr>
            <a:r>
              <a:rPr sz="1700" b="1">
                <a:solidFill>
                  <a:srgbClr val="121316"/>
                </a:solidFill>
                <a:latin typeface="IBM Plex Sans"/>
              </a:rPr>
              <a:t>Region picker</a:t>
            </a:r>
          </a:p>
        </p:txBody>
      </p:sp>
      <p:sp>
        <p:nvSpPr>
          <p:cNvPr id="14" name="TextBox 13"/>
          <p:cNvSpPr txBox="1"/>
          <p:nvPr/>
        </p:nvSpPr>
        <p:spPr>
          <a:xfrm>
            <a:off x="1188720" y="3493008"/>
            <a:ext cx="4572000" cy="548640"/>
          </a:xfrm>
          <a:prstGeom prst="rect">
            <a:avLst/>
          </a:prstGeom>
          <a:noFill/>
        </p:spPr>
        <p:txBody>
          <a:bodyPr wrap="square" lIns="0" rIns="0" tIns="0" bIns="0" anchor="t">
            <a:noAutofit/>
          </a:bodyPr>
          <a:lstStyle/>
          <a:p>
            <a:pPr algn="l">
              <a:lnSpc>
                <a:spcPct val="110000"/>
              </a:lnSpc>
            </a:pPr>
            <a:r>
              <a:rPr sz="1350" b="0">
                <a:solidFill>
                  <a:srgbClr val="5B5E66"/>
                </a:solidFill>
                <a:latin typeface="IBM Plex Sans"/>
              </a:rPr>
              <a:t>Bottom sheet listing all 13 regions with live arrival estimates.</a:t>
            </a:r>
          </a:p>
        </p:txBody>
      </p:sp>
      <p:sp>
        <p:nvSpPr>
          <p:cNvPr id="15" name="Oval 14"/>
          <p:cNvSpPr/>
          <p:nvPr/>
        </p:nvSpPr>
        <p:spPr>
          <a:xfrm>
            <a:off x="640080" y="4187952"/>
            <a:ext cx="384048" cy="384048"/>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187952"/>
            <a:ext cx="384048" cy="384048"/>
          </a:xfrm>
          <a:prstGeom prst="rect">
            <a:avLst/>
          </a:prstGeom>
          <a:noFill/>
        </p:spPr>
        <p:txBody>
          <a:bodyPr wrap="square" lIns="0" rIns="0" tIns="0" bIns="0" anchor="ctr">
            <a:noAutofit/>
          </a:bodyPr>
          <a:lstStyle/>
          <a:p>
            <a:pPr algn="ctr">
              <a:lnSpc>
                <a:spcPct val="110000"/>
              </a:lnSpc>
            </a:pPr>
            <a:r>
              <a:rPr sz="1400" b="1">
                <a:solidFill>
                  <a:srgbClr val="FFFFFF"/>
                </a:solidFill>
                <a:latin typeface="IBM Plex Sans"/>
              </a:rPr>
              <a:t>3</a:t>
            </a:r>
          </a:p>
        </p:txBody>
      </p:sp>
      <p:sp>
        <p:nvSpPr>
          <p:cNvPr id="17" name="TextBox 16"/>
          <p:cNvSpPr txBox="1"/>
          <p:nvPr/>
        </p:nvSpPr>
        <p:spPr>
          <a:xfrm>
            <a:off x="1188720" y="4151376"/>
            <a:ext cx="4572000" cy="365760"/>
          </a:xfrm>
          <a:prstGeom prst="rect">
            <a:avLst/>
          </a:prstGeom>
          <a:noFill/>
        </p:spPr>
        <p:txBody>
          <a:bodyPr wrap="square" lIns="0" rIns="0" tIns="0" bIns="0" anchor="t">
            <a:noAutofit/>
          </a:bodyPr>
          <a:lstStyle/>
          <a:p>
            <a:pPr algn="l">
              <a:lnSpc>
                <a:spcPct val="110000"/>
              </a:lnSpc>
            </a:pPr>
            <a:r>
              <a:rPr sz="1700" b="1">
                <a:solidFill>
                  <a:srgbClr val="121316"/>
                </a:solidFill>
                <a:latin typeface="IBM Plex Sans"/>
              </a:rPr>
              <a:t>Breakdown or accident</a:t>
            </a:r>
          </a:p>
        </p:txBody>
      </p:sp>
      <p:sp>
        <p:nvSpPr>
          <p:cNvPr id="18" name="TextBox 17"/>
          <p:cNvSpPr txBox="1"/>
          <p:nvPr/>
        </p:nvSpPr>
        <p:spPr>
          <a:xfrm>
            <a:off x="1188720" y="4517136"/>
            <a:ext cx="4572000" cy="548640"/>
          </a:xfrm>
          <a:prstGeom prst="rect">
            <a:avLst/>
          </a:prstGeom>
          <a:noFill/>
        </p:spPr>
        <p:txBody>
          <a:bodyPr wrap="square" lIns="0" rIns="0" tIns="0" bIns="0" anchor="t">
            <a:noAutofit/>
          </a:bodyPr>
          <a:lstStyle/>
          <a:p>
            <a:pPr algn="l">
              <a:lnSpc>
                <a:spcPct val="110000"/>
              </a:lnSpc>
            </a:pPr>
            <a:r>
              <a:rPr sz="1350" b="0">
                <a:solidFill>
                  <a:srgbClr val="5B5E66"/>
                </a:solidFill>
                <a:latin typeface="IBM Plex Sans"/>
              </a:rPr>
              <a:t>Two large cards decide the response crew.</a:t>
            </a:r>
          </a:p>
        </p:txBody>
      </p:sp>
      <p:sp>
        <p:nvSpPr>
          <p:cNvPr id="19" name="Oval 18"/>
          <p:cNvSpPr/>
          <p:nvPr/>
        </p:nvSpPr>
        <p:spPr>
          <a:xfrm>
            <a:off x="640080" y="5212080"/>
            <a:ext cx="384048" cy="384048"/>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212080"/>
            <a:ext cx="384048" cy="384048"/>
          </a:xfrm>
          <a:prstGeom prst="rect">
            <a:avLst/>
          </a:prstGeom>
          <a:noFill/>
        </p:spPr>
        <p:txBody>
          <a:bodyPr wrap="square" lIns="0" rIns="0" tIns="0" bIns="0" anchor="ctr">
            <a:noAutofit/>
          </a:bodyPr>
          <a:lstStyle/>
          <a:p>
            <a:pPr algn="ctr">
              <a:lnSpc>
                <a:spcPct val="110000"/>
              </a:lnSpc>
            </a:pPr>
            <a:r>
              <a:rPr sz="1400" b="1">
                <a:solidFill>
                  <a:srgbClr val="FFFFFF"/>
                </a:solidFill>
                <a:latin typeface="IBM Plex Sans"/>
              </a:rPr>
              <a:t>4</a:t>
            </a:r>
          </a:p>
        </p:txBody>
      </p:sp>
      <p:sp>
        <p:nvSpPr>
          <p:cNvPr id="21" name="TextBox 20"/>
          <p:cNvSpPr txBox="1"/>
          <p:nvPr/>
        </p:nvSpPr>
        <p:spPr>
          <a:xfrm>
            <a:off x="1188720" y="5175504"/>
            <a:ext cx="4572000" cy="365760"/>
          </a:xfrm>
          <a:prstGeom prst="rect">
            <a:avLst/>
          </a:prstGeom>
          <a:noFill/>
        </p:spPr>
        <p:txBody>
          <a:bodyPr wrap="square" lIns="0" rIns="0" tIns="0" bIns="0" anchor="t">
            <a:noAutofit/>
          </a:bodyPr>
          <a:lstStyle/>
          <a:p>
            <a:pPr algn="l">
              <a:lnSpc>
                <a:spcPct val="110000"/>
              </a:lnSpc>
            </a:pPr>
            <a:r>
              <a:rPr sz="1700" b="1">
                <a:solidFill>
                  <a:srgbClr val="121316"/>
                </a:solidFill>
                <a:latin typeface="IBM Plex Sans"/>
              </a:rPr>
              <a:t>Replacement car</a:t>
            </a:r>
          </a:p>
        </p:txBody>
      </p:sp>
      <p:sp>
        <p:nvSpPr>
          <p:cNvPr id="22" name="TextBox 21"/>
          <p:cNvSpPr txBox="1"/>
          <p:nvPr/>
        </p:nvSpPr>
        <p:spPr>
          <a:xfrm>
            <a:off x="1188720" y="5541264"/>
            <a:ext cx="4572000" cy="548640"/>
          </a:xfrm>
          <a:prstGeom prst="rect">
            <a:avLst/>
          </a:prstGeom>
          <a:noFill/>
        </p:spPr>
        <p:txBody>
          <a:bodyPr wrap="square" lIns="0" rIns="0" tIns="0" bIns="0" anchor="t">
            <a:noAutofit/>
          </a:bodyPr>
          <a:lstStyle/>
          <a:p>
            <a:pPr algn="l">
              <a:lnSpc>
                <a:spcPct val="110000"/>
              </a:lnSpc>
            </a:pPr>
            <a:r>
              <a:rPr sz="1350" b="0">
                <a:solidFill>
                  <a:srgbClr val="5B5E66"/>
                </a:solidFill>
                <a:latin typeface="IBM Plex Sans"/>
              </a:rPr>
              <a:t>Economy, Sedan or SUV, plus plate and mobile number.</a:t>
            </a:r>
          </a:p>
        </p:txBody>
      </p:sp>
      <p:sp>
        <p:nvSpPr>
          <p:cNvPr id="23" name="TextBox 22"/>
          <p:cNvSpPr txBox="1"/>
          <p:nvPr/>
        </p:nvSpPr>
        <p:spPr>
          <a:xfrm>
            <a:off x="5989320" y="5897880"/>
            <a:ext cx="5029200" cy="274320"/>
          </a:xfrm>
          <a:prstGeom prst="rect">
            <a:avLst/>
          </a:prstGeom>
          <a:noFill/>
        </p:spPr>
        <p:txBody>
          <a:bodyPr wrap="square" lIns="0" rIns="0" tIns="0" bIns="0" anchor="t">
            <a:noAutofit/>
          </a:bodyPr>
          <a:lstStyle/>
          <a:p>
            <a:pPr algn="l">
              <a:lnSpc>
                <a:spcPct val="110000"/>
              </a:lnSpc>
            </a:pPr>
            <a:r>
              <a:rPr sz="1100" b="0">
                <a:solidFill>
                  <a:srgbClr val="5B5E66"/>
                </a:solidFill>
                <a:latin typeface="IBM Plex Sans"/>
              </a:rPr>
              <a:t>Live capture: Arabic (left) and English (right)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316"/>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1274552" y="274320"/>
            <a:ext cx="527830" cy="566928"/>
          </a:xfrm>
          <a:prstGeom prst="rect">
            <a:avLst/>
          </a:prstGeom>
        </p:spPr>
      </p:pic>
      <p:sp>
        <p:nvSpPr>
          <p:cNvPr id="3" name="TextBox 2"/>
          <p:cNvSpPr txBox="1"/>
          <p:nvPr/>
        </p:nvSpPr>
        <p:spPr>
          <a:xfrm>
            <a:off x="11155680" y="6355080"/>
            <a:ext cx="731520" cy="274320"/>
          </a:xfrm>
          <a:prstGeom prst="rect">
            <a:avLst/>
          </a:prstGeom>
          <a:noFill/>
        </p:spPr>
        <p:txBody>
          <a:bodyPr wrap="square" lIns="0" rIns="0" tIns="0" bIns="0" anchor="t">
            <a:noAutofit/>
          </a:bodyPr>
          <a:lstStyle/>
          <a:p>
            <a:pPr algn="r">
              <a:lnSpc>
                <a:spcPct val="110000"/>
              </a:lnSpc>
            </a:pPr>
            <a:r>
              <a:rPr sz="1200" b="0">
                <a:solidFill>
                  <a:srgbClr val="E5E7EB"/>
                </a:solidFill>
                <a:latin typeface="IBM Plex Sans"/>
              </a:rPr>
              <a:t>8</a:t>
            </a:r>
          </a:p>
        </p:txBody>
      </p:sp>
      <p:sp>
        <p:nvSpPr>
          <p:cNvPr id="4" name="TextBox 3"/>
          <p:cNvSpPr txBox="1"/>
          <p:nvPr/>
        </p:nvSpPr>
        <p:spPr>
          <a:xfrm>
            <a:off x="640080" y="502920"/>
            <a:ext cx="6035040" cy="32004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APP WALKTHROUGH</a:t>
            </a:r>
          </a:p>
        </p:txBody>
      </p:sp>
      <p:sp>
        <p:nvSpPr>
          <p:cNvPr id="5" name="TextBox 4"/>
          <p:cNvSpPr txBox="1"/>
          <p:nvPr/>
        </p:nvSpPr>
        <p:spPr>
          <a:xfrm>
            <a:off x="640080" y="822960"/>
            <a:ext cx="6035040" cy="1005840"/>
          </a:xfrm>
          <a:prstGeom prst="rect">
            <a:avLst/>
          </a:prstGeom>
          <a:noFill/>
        </p:spPr>
        <p:txBody>
          <a:bodyPr wrap="square" lIns="0" rIns="0" tIns="0" bIns="0" anchor="t">
            <a:noAutofit/>
          </a:bodyPr>
          <a:lstStyle/>
          <a:p>
            <a:pPr algn="l">
              <a:lnSpc>
                <a:spcPct val="100000"/>
              </a:lnSpc>
            </a:pPr>
            <a:r>
              <a:rPr sz="3400" b="1">
                <a:solidFill>
                  <a:srgbClr val="FFFFFF"/>
                </a:solidFill>
                <a:latin typeface="IBM Plex Sans"/>
              </a:rPr>
              <a:t>Live replacement &amp; workshop tracking</a:t>
            </a:r>
          </a:p>
        </p:txBody>
      </p:sp>
      <p:sp>
        <p:nvSpPr>
          <p:cNvPr id="6" name="TextBox 5"/>
          <p:cNvSpPr txBox="1"/>
          <p:nvPr/>
        </p:nvSpPr>
        <p:spPr>
          <a:xfrm>
            <a:off x="640080" y="1920240"/>
            <a:ext cx="5486400" cy="731520"/>
          </a:xfrm>
          <a:prstGeom prst="rect">
            <a:avLst/>
          </a:prstGeom>
          <a:noFill/>
        </p:spPr>
        <p:txBody>
          <a:bodyPr wrap="square" lIns="0" rIns="0" tIns="0" bIns="0" anchor="t">
            <a:noAutofit/>
          </a:bodyPr>
          <a:lstStyle/>
          <a:p>
            <a:pPr algn="l">
              <a:lnSpc>
                <a:spcPct val="110000"/>
              </a:lnSpc>
            </a:pPr>
            <a:r>
              <a:rPr sz="1500" b="0">
                <a:solidFill>
                  <a:srgbClr val="E5E7EB"/>
                </a:solidFill>
                <a:latin typeface="IBM Plex Sans"/>
              </a:rPr>
              <a:t>Request FZ-26-0417 · Sedan (Toyota Camry 2025) · plate RSJ 4827</a:t>
            </a:r>
          </a:p>
        </p:txBody>
      </p:sp>
      <p:sp>
        <p:nvSpPr>
          <p:cNvPr id="7" name="Rectangle 6"/>
          <p:cNvSpPr/>
          <p:nvPr/>
        </p:nvSpPr>
        <p:spPr>
          <a:xfrm>
            <a:off x="640080" y="2679192"/>
            <a:ext cx="109728" cy="566928"/>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606040"/>
            <a:ext cx="5120640" cy="365760"/>
          </a:xfrm>
          <a:prstGeom prst="rect">
            <a:avLst/>
          </a:prstGeom>
          <a:noFill/>
        </p:spPr>
        <p:txBody>
          <a:bodyPr wrap="square" lIns="0" rIns="0" tIns="0" bIns="0" anchor="t">
            <a:noAutofit/>
          </a:bodyPr>
          <a:lstStyle/>
          <a:p>
            <a:pPr algn="l">
              <a:lnSpc>
                <a:spcPct val="110000"/>
              </a:lnSpc>
            </a:pPr>
            <a:r>
              <a:rPr sz="1700" b="1">
                <a:solidFill>
                  <a:srgbClr val="FFFFFF"/>
                </a:solidFill>
                <a:latin typeface="IBM Plex Sans"/>
              </a:rPr>
              <a:t>Completed steps</a:t>
            </a:r>
          </a:p>
        </p:txBody>
      </p:sp>
      <p:sp>
        <p:nvSpPr>
          <p:cNvPr id="9" name="TextBox 8"/>
          <p:cNvSpPr txBox="1"/>
          <p:nvPr/>
        </p:nvSpPr>
        <p:spPr>
          <a:xfrm>
            <a:off x="960120" y="2971800"/>
            <a:ext cx="5120640" cy="502920"/>
          </a:xfrm>
          <a:prstGeom prst="rect">
            <a:avLst/>
          </a:prstGeom>
          <a:noFill/>
        </p:spPr>
        <p:txBody>
          <a:bodyPr wrap="square" lIns="0" rIns="0" tIns="0" bIns="0" anchor="t">
            <a:noAutofit/>
          </a:bodyPr>
          <a:lstStyle/>
          <a:p>
            <a:pPr algn="l">
              <a:lnSpc>
                <a:spcPct val="110000"/>
              </a:lnSpc>
            </a:pPr>
            <a:r>
              <a:rPr sz="1350" b="0">
                <a:solidFill>
                  <a:srgbClr val="E5E7EB"/>
                </a:solidFill>
                <a:latin typeface="IBM Plex Sans"/>
              </a:rPr>
              <a:t>Filled crimson circles with Asia/Riyadh timestamps.</a:t>
            </a:r>
          </a:p>
        </p:txBody>
      </p:sp>
      <p:sp>
        <p:nvSpPr>
          <p:cNvPr id="10" name="Rectangle 9"/>
          <p:cNvSpPr/>
          <p:nvPr/>
        </p:nvSpPr>
        <p:spPr>
          <a:xfrm>
            <a:off x="640080" y="3593592"/>
            <a:ext cx="109728" cy="566928"/>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520440"/>
            <a:ext cx="5120640" cy="365760"/>
          </a:xfrm>
          <a:prstGeom prst="rect">
            <a:avLst/>
          </a:prstGeom>
          <a:noFill/>
        </p:spPr>
        <p:txBody>
          <a:bodyPr wrap="square" lIns="0" rIns="0" tIns="0" bIns="0" anchor="t">
            <a:noAutofit/>
          </a:bodyPr>
          <a:lstStyle/>
          <a:p>
            <a:pPr algn="l">
              <a:lnSpc>
                <a:spcPct val="110000"/>
              </a:lnSpc>
            </a:pPr>
            <a:r>
              <a:rPr sz="1700" b="1">
                <a:solidFill>
                  <a:srgbClr val="FFFFFF"/>
                </a:solidFill>
                <a:latin typeface="IBM Plex Sans"/>
              </a:rPr>
              <a:t>Active step</a:t>
            </a:r>
          </a:p>
        </p:txBody>
      </p:sp>
      <p:sp>
        <p:nvSpPr>
          <p:cNvPr id="12" name="TextBox 11"/>
          <p:cNvSpPr txBox="1"/>
          <p:nvPr/>
        </p:nvSpPr>
        <p:spPr>
          <a:xfrm>
            <a:off x="960120" y="3886200"/>
            <a:ext cx="5120640" cy="502920"/>
          </a:xfrm>
          <a:prstGeom prst="rect">
            <a:avLst/>
          </a:prstGeom>
          <a:noFill/>
        </p:spPr>
        <p:txBody>
          <a:bodyPr wrap="square" lIns="0" rIns="0" tIns="0" bIns="0" anchor="t">
            <a:noAutofit/>
          </a:bodyPr>
          <a:lstStyle/>
          <a:p>
            <a:pPr algn="l">
              <a:lnSpc>
                <a:spcPct val="110000"/>
              </a:lnSpc>
            </a:pPr>
            <a:r>
              <a:rPr sz="1350" b="0">
                <a:solidFill>
                  <a:srgbClr val="E5E7EB"/>
                </a:solidFill>
                <a:latin typeface="IBM Plex Sans"/>
              </a:rPr>
              <a:t>Highlighted card with the assigned partner workshop.</a:t>
            </a:r>
          </a:p>
        </p:txBody>
      </p:sp>
      <p:sp>
        <p:nvSpPr>
          <p:cNvPr id="13" name="Rectangle 12"/>
          <p:cNvSpPr/>
          <p:nvPr/>
        </p:nvSpPr>
        <p:spPr>
          <a:xfrm>
            <a:off x="640080" y="4507992"/>
            <a:ext cx="109728" cy="566928"/>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434840"/>
            <a:ext cx="5120640" cy="365760"/>
          </a:xfrm>
          <a:prstGeom prst="rect">
            <a:avLst/>
          </a:prstGeom>
          <a:noFill/>
        </p:spPr>
        <p:txBody>
          <a:bodyPr wrap="square" lIns="0" rIns="0" tIns="0" bIns="0" anchor="t">
            <a:noAutofit/>
          </a:bodyPr>
          <a:lstStyle/>
          <a:p>
            <a:pPr algn="l">
              <a:lnSpc>
                <a:spcPct val="110000"/>
              </a:lnSpc>
            </a:pPr>
            <a:r>
              <a:rPr sz="1700" b="1">
                <a:solidFill>
                  <a:srgbClr val="FFFFFF"/>
                </a:solidFill>
                <a:latin typeface="IBM Plex Sans"/>
              </a:rPr>
              <a:t>Simulate Next Step</a:t>
            </a:r>
          </a:p>
        </p:txBody>
      </p:sp>
      <p:sp>
        <p:nvSpPr>
          <p:cNvPr id="15" name="TextBox 14"/>
          <p:cNvSpPr txBox="1"/>
          <p:nvPr/>
        </p:nvSpPr>
        <p:spPr>
          <a:xfrm>
            <a:off x="960120" y="4800600"/>
            <a:ext cx="5120640" cy="502920"/>
          </a:xfrm>
          <a:prstGeom prst="rect">
            <a:avLst/>
          </a:prstGeom>
          <a:noFill/>
        </p:spPr>
        <p:txBody>
          <a:bodyPr wrap="square" lIns="0" rIns="0" tIns="0" bIns="0" anchor="t">
            <a:noAutofit/>
          </a:bodyPr>
          <a:lstStyle/>
          <a:p>
            <a:pPr algn="l">
              <a:lnSpc>
                <a:spcPct val="110000"/>
              </a:lnSpc>
            </a:pPr>
            <a:r>
              <a:rPr sz="1350" b="0">
                <a:solidFill>
                  <a:srgbClr val="E5E7EB"/>
                </a:solidFill>
                <a:latin typeface="IBM Plex Sans"/>
              </a:rPr>
              <a:t>Advances the timeline, plays a completion tone and writes to the database.</a:t>
            </a:r>
          </a:p>
        </p:txBody>
      </p:sp>
      <p:sp>
        <p:nvSpPr>
          <p:cNvPr id="16" name="Rectangle 15"/>
          <p:cNvSpPr/>
          <p:nvPr/>
        </p:nvSpPr>
        <p:spPr>
          <a:xfrm>
            <a:off x="640080" y="5422392"/>
            <a:ext cx="109728" cy="566928"/>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349240"/>
            <a:ext cx="5120640" cy="365760"/>
          </a:xfrm>
          <a:prstGeom prst="rect">
            <a:avLst/>
          </a:prstGeom>
          <a:noFill/>
        </p:spPr>
        <p:txBody>
          <a:bodyPr wrap="square" lIns="0" rIns="0" tIns="0" bIns="0" anchor="t">
            <a:noAutofit/>
          </a:bodyPr>
          <a:lstStyle/>
          <a:p>
            <a:pPr algn="l">
              <a:lnSpc>
                <a:spcPct val="110000"/>
              </a:lnSpc>
            </a:pPr>
            <a:r>
              <a:rPr sz="1700" b="1">
                <a:solidFill>
                  <a:srgbClr val="FFFFFF"/>
                </a:solidFill>
                <a:latin typeface="IBM Plex Sans"/>
              </a:rPr>
              <a:t>Restart tracking</a:t>
            </a:r>
          </a:p>
        </p:txBody>
      </p:sp>
      <p:sp>
        <p:nvSpPr>
          <p:cNvPr id="18" name="TextBox 17"/>
          <p:cNvSpPr txBox="1"/>
          <p:nvPr/>
        </p:nvSpPr>
        <p:spPr>
          <a:xfrm>
            <a:off x="960120" y="5715000"/>
            <a:ext cx="5120640" cy="502920"/>
          </a:xfrm>
          <a:prstGeom prst="rect">
            <a:avLst/>
          </a:prstGeom>
          <a:noFill/>
        </p:spPr>
        <p:txBody>
          <a:bodyPr wrap="square" lIns="0" rIns="0" tIns="0" bIns="0" anchor="t">
            <a:noAutofit/>
          </a:bodyPr>
          <a:lstStyle/>
          <a:p>
            <a:pPr algn="l">
              <a:lnSpc>
                <a:spcPct val="110000"/>
              </a:lnSpc>
            </a:pPr>
            <a:r>
              <a:rPr sz="1350" b="0">
                <a:solidFill>
                  <a:srgbClr val="E5E7EB"/>
                </a:solidFill>
                <a:latin typeface="IBM Plex Sans"/>
              </a:rPr>
              <a:t>Resets the demo to the seeded sample request.</a:t>
            </a:r>
          </a:p>
        </p:txBody>
      </p:sp>
      <p:pic>
        <p:nvPicPr>
          <p:cNvPr id="19" name="Picture 18" descr="c_tracker_en_r.png"/>
          <p:cNvPicPr>
            <a:picLocks noChangeAspect="1"/>
          </p:cNvPicPr>
          <p:nvPr/>
        </p:nvPicPr>
        <p:blipFill>
          <a:blip r:embed="rId3"/>
          <a:stretch>
            <a:fillRect/>
          </a:stretch>
        </p:blipFill>
        <p:spPr>
          <a:xfrm>
            <a:off x="6492240" y="868680"/>
            <a:ext cx="2569895" cy="5577840"/>
          </a:xfrm>
          <a:prstGeom prst="rect">
            <a:avLst/>
          </a:prstGeom>
        </p:spPr>
      </p:pic>
      <p:pic>
        <p:nvPicPr>
          <p:cNvPr id="20" name="Picture 19" descr="c_tracker_pair.png"/>
          <p:cNvPicPr>
            <a:picLocks noChangeAspect="1"/>
          </p:cNvPicPr>
          <p:nvPr/>
        </p:nvPicPr>
        <p:blipFill>
          <a:blip r:embed="rId4"/>
          <a:srcRect l="50000"/>
          <a:stretch>
            <a:fillRect/>
          </a:stretch>
        </p:blipFill>
        <p:spPr>
          <a:xfrm>
            <a:off x="9098280" y="1691640"/>
            <a:ext cx="2375535" cy="3931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1274552" y="274320"/>
            <a:ext cx="527830" cy="566928"/>
          </a:xfrm>
          <a:prstGeom prst="rect">
            <a:avLst/>
          </a:prstGeom>
        </p:spPr>
      </p:pic>
      <p:sp>
        <p:nvSpPr>
          <p:cNvPr id="3" name="TextBox 2"/>
          <p:cNvSpPr txBox="1"/>
          <p:nvPr/>
        </p:nvSpPr>
        <p:spPr>
          <a:xfrm>
            <a:off x="11155680" y="6355080"/>
            <a:ext cx="731520" cy="274320"/>
          </a:xfrm>
          <a:prstGeom prst="rect">
            <a:avLst/>
          </a:prstGeom>
          <a:noFill/>
        </p:spPr>
        <p:txBody>
          <a:bodyPr wrap="square" lIns="0" rIns="0" tIns="0" bIns="0" anchor="t">
            <a:noAutofit/>
          </a:bodyPr>
          <a:lstStyle/>
          <a:p>
            <a:pPr algn="r">
              <a:lnSpc>
                <a:spcPct val="110000"/>
              </a:lnSpc>
            </a:pPr>
            <a:r>
              <a:rPr sz="1200" b="0">
                <a:solidFill>
                  <a:srgbClr val="5B5E66"/>
                </a:solidFill>
                <a:latin typeface="IBM Plex Sans"/>
              </a:rPr>
              <a:t>9</a:t>
            </a:r>
          </a:p>
        </p:txBody>
      </p:sp>
      <p:sp>
        <p:nvSpPr>
          <p:cNvPr id="4" name="TextBox 3"/>
          <p:cNvSpPr txBox="1"/>
          <p:nvPr/>
        </p:nvSpPr>
        <p:spPr>
          <a:xfrm>
            <a:off x="640080" y="502920"/>
            <a:ext cx="10058400" cy="320040"/>
          </a:xfrm>
          <a:prstGeom prst="rect">
            <a:avLst/>
          </a:prstGeom>
          <a:noFill/>
        </p:spPr>
        <p:txBody>
          <a:bodyPr wrap="square" lIns="0" rIns="0" tIns="0" bIns="0" anchor="t">
            <a:noAutofit/>
          </a:bodyPr>
          <a:lstStyle/>
          <a:p>
            <a:pPr algn="l">
              <a:lnSpc>
                <a:spcPct val="110000"/>
              </a:lnSpc>
            </a:pPr>
            <a:r>
              <a:rPr sz="1300" b="1">
                <a:solidFill>
                  <a:srgbClr val="9E1B20"/>
                </a:solidFill>
                <a:latin typeface="IBM Plex Sans"/>
              </a:rPr>
              <a:t>ESTIMATED OPERATIONAL COSTS &amp; PRICING MODEL</a:t>
            </a:r>
          </a:p>
        </p:txBody>
      </p:sp>
      <p:sp>
        <p:nvSpPr>
          <p:cNvPr id="5" name="TextBox 4"/>
          <p:cNvSpPr txBox="1"/>
          <p:nvPr/>
        </p:nvSpPr>
        <p:spPr>
          <a:xfrm>
            <a:off x="640080" y="822960"/>
            <a:ext cx="10058400" cy="1005840"/>
          </a:xfrm>
          <a:prstGeom prst="rect">
            <a:avLst/>
          </a:prstGeom>
          <a:noFill/>
        </p:spPr>
        <p:txBody>
          <a:bodyPr wrap="square" lIns="0" rIns="0" tIns="0" bIns="0" anchor="t">
            <a:noAutofit/>
          </a:bodyPr>
          <a:lstStyle/>
          <a:p>
            <a:pPr algn="l">
              <a:lnSpc>
                <a:spcPct val="100000"/>
              </a:lnSpc>
            </a:pPr>
            <a:r>
              <a:rPr sz="3400" b="1">
                <a:solidFill>
                  <a:srgbClr val="121316"/>
                </a:solidFill>
                <a:latin typeface="IBM Plex Sans"/>
              </a:rPr>
              <a:t>What it costs to run each month</a:t>
            </a:r>
          </a:p>
        </p:txBody>
      </p:sp>
      <p:sp>
        <p:nvSpPr>
          <p:cNvPr id="6" name="TextBox 5"/>
          <p:cNvSpPr txBox="1"/>
          <p:nvPr/>
        </p:nvSpPr>
        <p:spPr>
          <a:xfrm>
            <a:off x="640080" y="1783080"/>
            <a:ext cx="10058400" cy="365760"/>
          </a:xfrm>
          <a:prstGeom prst="rect">
            <a:avLst/>
          </a:prstGeom>
          <a:noFill/>
        </p:spPr>
        <p:txBody>
          <a:bodyPr wrap="square" lIns="0" rIns="0" tIns="0" bIns="0" anchor="t">
            <a:noAutofit/>
          </a:bodyPr>
          <a:lstStyle/>
          <a:p>
            <a:pPr algn="l">
              <a:lnSpc>
                <a:spcPct val="110000"/>
              </a:lnSpc>
            </a:pPr>
            <a:r>
              <a:rPr sz="1400" b="1">
                <a:solidFill>
                  <a:srgbClr val="9E1B20"/>
                </a:solidFill>
                <a:latin typeface="IBM Plex Sans"/>
              </a:rPr>
              <a:t>Assumed figures for academic requirement, in SAR.</a:t>
            </a:r>
          </a:p>
        </p:txBody>
      </p:sp>
      <p:graphicFrame>
        <p:nvGraphicFramePr>
          <p:cNvPr id="7" name="Table 6"/>
          <p:cNvGraphicFramePr>
            <a:graphicFrameLocks noGrp="1"/>
          </p:cNvGraphicFramePr>
          <p:nvPr/>
        </p:nvGraphicFramePr>
        <p:xfrm>
          <a:off x="640080" y="2286000"/>
          <a:ext cx="6949440" cy="3931920"/>
        </p:xfrm>
        <a:graphic>
          <a:graphicData uri="http://schemas.openxmlformats.org/drawingml/2006/table">
            <a:tbl>
              <a:tblPr firstRow="1" bandRow="1">
                <a:tableStyleId>{5C22544A-7EE6-4342-B048-85BDC9FD1C3A}</a:tableStyleId>
              </a:tblPr>
              <a:tblGrid>
                <a:gridCol w="2926080"/>
                <a:gridCol w="2377440"/>
                <a:gridCol w="1645920"/>
              </a:tblGrid>
              <a:tr h="561702">
                <a:tc>
                  <a:txBody>
                    <a:bodyPr wrap="square"/>
                    <a:lstStyle/>
                    <a:p>
                      <a:pPr algn="l"/>
                      <a:r>
                        <a:rPr sz="1400" b="1">
                          <a:solidFill>
                            <a:srgbClr val="FFFFFF"/>
                          </a:solidFill>
                          <a:latin typeface="IBM Plex Sans"/>
                        </a:rPr>
                        <a:t>Cost line</a:t>
                      </a:r>
                    </a:p>
                  </a:txBody>
                  <a:tcPr anchor="ctr">
                    <a:solidFill>
                      <a:srgbClr val="9E1B20"/>
                    </a:solidFill>
                  </a:tcPr>
                </a:tc>
                <a:tc>
                  <a:txBody>
                    <a:bodyPr wrap="square"/>
                    <a:lstStyle/>
                    <a:p>
                      <a:pPr algn="l"/>
                      <a:r>
                        <a:rPr sz="1400" b="1">
                          <a:solidFill>
                            <a:srgbClr val="FFFFFF"/>
                          </a:solidFill>
                          <a:latin typeface="IBM Plex Sans"/>
                        </a:rPr>
                        <a:t>Basis</a:t>
                      </a:r>
                    </a:p>
                  </a:txBody>
                  <a:tcPr anchor="ctr">
                    <a:solidFill>
                      <a:srgbClr val="9E1B20"/>
                    </a:solidFill>
                  </a:tcPr>
                </a:tc>
                <a:tc>
                  <a:txBody>
                    <a:bodyPr wrap="square"/>
                    <a:lstStyle/>
                    <a:p>
                      <a:pPr algn="r"/>
                      <a:r>
                        <a:rPr sz="1400" b="1">
                          <a:solidFill>
                            <a:srgbClr val="FFFFFF"/>
                          </a:solidFill>
                          <a:latin typeface="IBM Plex Sans"/>
                        </a:rPr>
                        <a:t>Monthly (SAR)</a:t>
                      </a:r>
                    </a:p>
                  </a:txBody>
                  <a:tcPr anchor="ctr">
                    <a:solidFill>
                      <a:srgbClr val="9E1B20"/>
                    </a:solidFill>
                  </a:tcPr>
                </a:tc>
              </a:tr>
              <a:tr h="561702">
                <a:tc>
                  <a:txBody>
                    <a:bodyPr wrap="square"/>
                    <a:lstStyle/>
                    <a:p>
                      <a:pPr algn="l"/>
                      <a:r>
                        <a:rPr sz="1400" b="0">
                          <a:solidFill>
                            <a:srgbClr val="121316"/>
                          </a:solidFill>
                          <a:latin typeface="IBM Plex Sans"/>
                        </a:rPr>
                        <a:t>Replacement fleet leasing</a:t>
                      </a:r>
                    </a:p>
                  </a:txBody>
                  <a:tcPr anchor="ctr">
                    <a:solidFill>
                      <a:srgbClr val="FFFFFF"/>
                    </a:solidFill>
                  </a:tcPr>
                </a:tc>
                <a:tc>
                  <a:txBody>
                    <a:bodyPr wrap="square"/>
                    <a:lstStyle/>
                    <a:p>
                      <a:pPr algn="l"/>
                      <a:r>
                        <a:rPr sz="1400" b="0">
                          <a:solidFill>
                            <a:srgbClr val="121316"/>
                          </a:solidFill>
                          <a:latin typeface="IBM Plex Sans"/>
                        </a:rPr>
                        <a:t>120 cars x 2,400</a:t>
                      </a:r>
                    </a:p>
                  </a:txBody>
                  <a:tcPr anchor="ctr">
                    <a:solidFill>
                      <a:srgbClr val="FFFFFF"/>
                    </a:solidFill>
                  </a:tcPr>
                </a:tc>
                <a:tc>
                  <a:txBody>
                    <a:bodyPr wrap="square"/>
                    <a:lstStyle/>
                    <a:p>
                      <a:pPr algn="r"/>
                      <a:r>
                        <a:rPr sz="1400" b="1">
                          <a:solidFill>
                            <a:srgbClr val="121316"/>
                          </a:solidFill>
                          <a:latin typeface="IBM Plex Sans"/>
                        </a:rPr>
                        <a:t>288,000</a:t>
                      </a:r>
                    </a:p>
                  </a:txBody>
                  <a:tcPr anchor="ctr">
                    <a:solidFill>
                      <a:srgbClr val="FFFFFF"/>
                    </a:solidFill>
                  </a:tcPr>
                </a:tc>
              </a:tr>
              <a:tr h="561702">
                <a:tc>
                  <a:txBody>
                    <a:bodyPr wrap="square"/>
                    <a:lstStyle/>
                    <a:p>
                      <a:pPr algn="l"/>
                      <a:r>
                        <a:rPr sz="1400" b="0">
                          <a:solidFill>
                            <a:srgbClr val="121316"/>
                          </a:solidFill>
                          <a:latin typeface="IBM Plex Sans"/>
                        </a:rPr>
                        <a:t>Field specialists</a:t>
                      </a:r>
                    </a:p>
                  </a:txBody>
                  <a:tcPr anchor="ctr">
                    <a:solidFill>
                      <a:srgbClr val="F7F7F8"/>
                    </a:solidFill>
                  </a:tcPr>
                </a:tc>
                <a:tc>
                  <a:txBody>
                    <a:bodyPr wrap="square"/>
                    <a:lstStyle/>
                    <a:p>
                      <a:pPr algn="l"/>
                      <a:r>
                        <a:rPr sz="1400" b="0">
                          <a:solidFill>
                            <a:srgbClr val="121316"/>
                          </a:solidFill>
                          <a:latin typeface="IBM Plex Sans"/>
                        </a:rPr>
                        <a:t>52 staff x 7,500</a:t>
                      </a:r>
                    </a:p>
                  </a:txBody>
                  <a:tcPr anchor="ctr">
                    <a:solidFill>
                      <a:srgbClr val="F7F7F8"/>
                    </a:solidFill>
                  </a:tcPr>
                </a:tc>
                <a:tc>
                  <a:txBody>
                    <a:bodyPr wrap="square"/>
                    <a:lstStyle/>
                    <a:p>
                      <a:pPr algn="r"/>
                      <a:r>
                        <a:rPr sz="1400" b="1">
                          <a:solidFill>
                            <a:srgbClr val="121316"/>
                          </a:solidFill>
                          <a:latin typeface="IBM Plex Sans"/>
                        </a:rPr>
                        <a:t>390,000</a:t>
                      </a:r>
                    </a:p>
                  </a:txBody>
                  <a:tcPr anchor="ctr">
                    <a:solidFill>
                      <a:srgbClr val="F7F7F8"/>
                    </a:solidFill>
                  </a:tcPr>
                </a:tc>
              </a:tr>
              <a:tr h="561702">
                <a:tc>
                  <a:txBody>
                    <a:bodyPr wrap="square"/>
                    <a:lstStyle/>
                    <a:p>
                      <a:pPr algn="l"/>
                      <a:r>
                        <a:rPr sz="1400" b="0">
                          <a:solidFill>
                            <a:srgbClr val="121316"/>
                          </a:solidFill>
                          <a:latin typeface="IBM Plex Sans"/>
                        </a:rPr>
                        <a:t>Towing logistics</a:t>
                      </a:r>
                    </a:p>
                  </a:txBody>
                  <a:tcPr anchor="ctr">
                    <a:solidFill>
                      <a:srgbClr val="FFFFFF"/>
                    </a:solidFill>
                  </a:tcPr>
                </a:tc>
                <a:tc>
                  <a:txBody>
                    <a:bodyPr wrap="square"/>
                    <a:lstStyle/>
                    <a:p>
                      <a:pPr algn="l"/>
                      <a:r>
                        <a:rPr sz="1400" b="0">
                          <a:solidFill>
                            <a:srgbClr val="121316"/>
                          </a:solidFill>
                          <a:latin typeface="IBM Plex Sans"/>
                        </a:rPr>
                        <a:t>26 flatbeds x 6,500</a:t>
                      </a:r>
                    </a:p>
                  </a:txBody>
                  <a:tcPr anchor="ctr">
                    <a:solidFill>
                      <a:srgbClr val="FFFFFF"/>
                    </a:solidFill>
                  </a:tcPr>
                </a:tc>
                <a:tc>
                  <a:txBody>
                    <a:bodyPr wrap="square"/>
                    <a:lstStyle/>
                    <a:p>
                      <a:pPr algn="r"/>
                      <a:r>
                        <a:rPr sz="1400" b="1">
                          <a:solidFill>
                            <a:srgbClr val="121316"/>
                          </a:solidFill>
                          <a:latin typeface="IBM Plex Sans"/>
                        </a:rPr>
                        <a:t>169,000</a:t>
                      </a:r>
                    </a:p>
                  </a:txBody>
                  <a:tcPr anchor="ctr">
                    <a:solidFill>
                      <a:srgbClr val="FFFFFF"/>
                    </a:solidFill>
                  </a:tcPr>
                </a:tc>
              </a:tr>
              <a:tr h="561702">
                <a:tc>
                  <a:txBody>
                    <a:bodyPr wrap="square"/>
                    <a:lstStyle/>
                    <a:p>
                      <a:pPr algn="l"/>
                      <a:r>
                        <a:rPr sz="1400" b="0">
                          <a:solidFill>
                            <a:srgbClr val="121316"/>
                          </a:solidFill>
                          <a:latin typeface="IBM Plex Sans"/>
                        </a:rPr>
                        <a:t>Specialized workshop SLAs</a:t>
                      </a:r>
                    </a:p>
                  </a:txBody>
                  <a:tcPr anchor="ctr">
                    <a:solidFill>
                      <a:srgbClr val="F7F7F8"/>
                    </a:solidFill>
                  </a:tcPr>
                </a:tc>
                <a:tc>
                  <a:txBody>
                    <a:bodyPr wrap="square"/>
                    <a:lstStyle/>
                    <a:p>
                      <a:pPr algn="l"/>
                      <a:r>
                        <a:rPr sz="1400" b="0">
                          <a:solidFill>
                            <a:srgbClr val="121316"/>
                          </a:solidFill>
                          <a:latin typeface="IBM Plex Sans"/>
                        </a:rPr>
                        <a:t>13 regions x 9,000</a:t>
                      </a:r>
                    </a:p>
                  </a:txBody>
                  <a:tcPr anchor="ctr">
                    <a:solidFill>
                      <a:srgbClr val="F7F7F8"/>
                    </a:solidFill>
                  </a:tcPr>
                </a:tc>
                <a:tc>
                  <a:txBody>
                    <a:bodyPr wrap="square"/>
                    <a:lstStyle/>
                    <a:p>
                      <a:pPr algn="r"/>
                      <a:r>
                        <a:rPr sz="1400" b="1">
                          <a:solidFill>
                            <a:srgbClr val="121316"/>
                          </a:solidFill>
                          <a:latin typeface="IBM Plex Sans"/>
                        </a:rPr>
                        <a:t>117,000</a:t>
                      </a:r>
                    </a:p>
                  </a:txBody>
                  <a:tcPr anchor="ctr">
                    <a:solidFill>
                      <a:srgbClr val="F7F7F8"/>
                    </a:solidFill>
                  </a:tcPr>
                </a:tc>
              </a:tr>
              <a:tr h="561702">
                <a:tc>
                  <a:txBody>
                    <a:bodyPr wrap="square"/>
                    <a:lstStyle/>
                    <a:p>
                      <a:pPr algn="l"/>
                      <a:r>
                        <a:rPr sz="1400" b="0">
                          <a:solidFill>
                            <a:srgbClr val="121316"/>
                          </a:solidFill>
                          <a:latin typeface="IBM Plex Sans"/>
                        </a:rPr>
                        <a:t>Tech &amp; cloud</a:t>
                      </a:r>
                    </a:p>
                  </a:txBody>
                  <a:tcPr anchor="ctr">
                    <a:solidFill>
                      <a:srgbClr val="FFFFFF"/>
                    </a:solidFill>
                  </a:tcPr>
                </a:tc>
                <a:tc>
                  <a:txBody>
                    <a:bodyPr wrap="square"/>
                    <a:lstStyle/>
                    <a:p>
                      <a:pPr algn="l"/>
                      <a:r>
                        <a:rPr sz="1400" b="0">
                          <a:solidFill>
                            <a:srgbClr val="121316"/>
                          </a:solidFill>
                          <a:latin typeface="IBM Plex Sans"/>
                        </a:rPr>
                        <a:t>Supabase + Vercel + SMS + maps</a:t>
                      </a:r>
                    </a:p>
                  </a:txBody>
                  <a:tcPr anchor="ctr">
                    <a:solidFill>
                      <a:srgbClr val="FFFFFF"/>
                    </a:solidFill>
                  </a:tcPr>
                </a:tc>
                <a:tc>
                  <a:txBody>
                    <a:bodyPr wrap="square"/>
                    <a:lstStyle/>
                    <a:p>
                      <a:pPr algn="r"/>
                      <a:r>
                        <a:rPr sz="1400" b="1">
                          <a:solidFill>
                            <a:srgbClr val="121316"/>
                          </a:solidFill>
                          <a:latin typeface="IBM Plex Sans"/>
                        </a:rPr>
                        <a:t>18,500</a:t>
                      </a:r>
                    </a:p>
                  </a:txBody>
                  <a:tcPr anchor="ctr">
                    <a:solidFill>
                      <a:srgbClr val="FFFFFF"/>
                    </a:solidFill>
                  </a:tcPr>
                </a:tc>
              </a:tr>
              <a:tr h="561708">
                <a:tc>
                  <a:txBody>
                    <a:bodyPr wrap="square"/>
                    <a:lstStyle/>
                    <a:p>
                      <a:pPr algn="l"/>
                      <a:r>
                        <a:rPr sz="1600" b="1">
                          <a:solidFill>
                            <a:srgbClr val="FFFFFF"/>
                          </a:solidFill>
                          <a:latin typeface="IBM Plex Sans"/>
                        </a:rPr>
                        <a:t>Total</a:t>
                      </a:r>
                    </a:p>
                  </a:txBody>
                  <a:tcPr anchor="ctr">
                    <a:solidFill>
                      <a:srgbClr val="121316"/>
                    </a:solidFill>
                  </a:tcPr>
                </a:tc>
                <a:tc>
                  <a:txBody>
                    <a:bodyPr wrap="square"/>
                    <a:lstStyle/>
                    <a:p>
                      <a:pPr algn="l"/>
                    </a:p>
                  </a:txBody>
                  <a:tcPr anchor="ctr">
                    <a:solidFill>
                      <a:srgbClr val="121316"/>
                    </a:solidFill>
                  </a:tcPr>
                </a:tc>
                <a:tc>
                  <a:txBody>
                    <a:bodyPr wrap="square"/>
                    <a:lstStyle/>
                    <a:p>
                      <a:pPr algn="r"/>
                      <a:r>
                        <a:rPr sz="1600" b="1">
                          <a:solidFill>
                            <a:srgbClr val="FFFFFF"/>
                          </a:solidFill>
                          <a:latin typeface="IBM Plex Sans"/>
                        </a:rPr>
                        <a:t>982,500</a:t>
                      </a:r>
                    </a:p>
                  </a:txBody>
                  <a:tcPr anchor="ctr">
                    <a:solidFill>
                      <a:srgbClr val="121316"/>
                    </a:solidFill>
                  </a:tcPr>
                </a:tc>
              </a:tr>
            </a:tbl>
          </a:graphicData>
        </a:graphic>
      </p:graphicFrame>
      <p:sp>
        <p:nvSpPr>
          <p:cNvPr id="8" name="Rounded Rectangle 7"/>
          <p:cNvSpPr/>
          <p:nvPr/>
        </p:nvSpPr>
        <p:spPr>
          <a:xfrm>
            <a:off x="8001000" y="2286000"/>
            <a:ext cx="3611880" cy="3931920"/>
          </a:xfrm>
          <a:prstGeom prst="roundRect">
            <a:avLst>
              <a:gd name="adj" fmla="val 12000"/>
            </a:avLst>
          </a:prstGeom>
          <a:solidFill>
            <a:srgbClr val="121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2514600"/>
            <a:ext cx="3108960" cy="365760"/>
          </a:xfrm>
          <a:prstGeom prst="rect">
            <a:avLst/>
          </a:prstGeom>
          <a:noFill/>
        </p:spPr>
        <p:txBody>
          <a:bodyPr wrap="square" lIns="0" rIns="0" tIns="0" bIns="0" anchor="t">
            <a:noAutofit/>
          </a:bodyPr>
          <a:lstStyle/>
          <a:p>
            <a:pPr algn="l">
              <a:lnSpc>
                <a:spcPct val="110000"/>
              </a:lnSpc>
            </a:pPr>
            <a:r>
              <a:rPr sz="1300" b="1">
                <a:solidFill>
                  <a:srgbClr val="E05A5F"/>
                </a:solidFill>
                <a:latin typeface="IBM Plex Sans"/>
              </a:rPr>
              <a:t>SERVICE PRICING</a:t>
            </a:r>
          </a:p>
        </p:txBody>
      </p:sp>
      <p:sp>
        <p:nvSpPr>
          <p:cNvPr id="10" name="TextBox 9"/>
          <p:cNvSpPr txBox="1"/>
          <p:nvPr/>
        </p:nvSpPr>
        <p:spPr>
          <a:xfrm>
            <a:off x="8275320" y="2971800"/>
            <a:ext cx="3108960" cy="365760"/>
          </a:xfrm>
          <a:prstGeom prst="rect">
            <a:avLst/>
          </a:prstGeom>
          <a:noFill/>
        </p:spPr>
        <p:txBody>
          <a:bodyPr wrap="square" lIns="0" rIns="0" tIns="0" bIns="0" anchor="t">
            <a:noAutofit/>
          </a:bodyPr>
          <a:lstStyle/>
          <a:p>
            <a:pPr algn="l">
              <a:lnSpc>
                <a:spcPct val="110000"/>
              </a:lnSpc>
            </a:pPr>
            <a:r>
              <a:rPr sz="1700" b="1">
                <a:solidFill>
                  <a:srgbClr val="FFFFFF"/>
                </a:solidFill>
                <a:latin typeface="IBM Plex Sans"/>
              </a:rPr>
              <a:t>Pay per Call</a:t>
            </a:r>
          </a:p>
        </p:txBody>
      </p:sp>
      <p:sp>
        <p:nvSpPr>
          <p:cNvPr id="11" name="TextBox 10"/>
          <p:cNvSpPr txBox="1"/>
          <p:nvPr/>
        </p:nvSpPr>
        <p:spPr>
          <a:xfrm>
            <a:off x="8275320" y="3337560"/>
            <a:ext cx="3108960" cy="457200"/>
          </a:xfrm>
          <a:prstGeom prst="rect">
            <a:avLst/>
          </a:prstGeom>
          <a:noFill/>
        </p:spPr>
        <p:txBody>
          <a:bodyPr wrap="square" lIns="0" rIns="0" tIns="0" bIns="0" anchor="t">
            <a:noAutofit/>
          </a:bodyPr>
          <a:lstStyle/>
          <a:p>
            <a:pPr algn="l">
              <a:lnSpc>
                <a:spcPct val="110000"/>
              </a:lnSpc>
            </a:pPr>
            <a:r>
              <a:rPr sz="2200" b="1">
                <a:solidFill>
                  <a:srgbClr val="FFFFFF"/>
                </a:solidFill>
                <a:latin typeface="IBM Plex Sans"/>
              </a:rPr>
              <a:t>349 </a:t>
            </a:r>
            <a:r>
              <a:rPr sz="1200" b="0">
                <a:solidFill>
                  <a:srgbClr val="E5E7EB"/>
                </a:solidFill>
                <a:latin typeface="IBM Plex Sans"/>
              </a:rPr>
              <a:t>SAR / request</a:t>
            </a:r>
          </a:p>
        </p:txBody>
      </p:sp>
      <p:sp>
        <p:nvSpPr>
          <p:cNvPr id="12" name="TextBox 11"/>
          <p:cNvSpPr txBox="1"/>
          <p:nvPr/>
        </p:nvSpPr>
        <p:spPr>
          <a:xfrm>
            <a:off x="8275320" y="3995928"/>
            <a:ext cx="3108960" cy="365760"/>
          </a:xfrm>
          <a:prstGeom prst="rect">
            <a:avLst/>
          </a:prstGeom>
          <a:noFill/>
        </p:spPr>
        <p:txBody>
          <a:bodyPr wrap="square" lIns="0" rIns="0" tIns="0" bIns="0" anchor="t">
            <a:noAutofit/>
          </a:bodyPr>
          <a:lstStyle/>
          <a:p>
            <a:pPr algn="l">
              <a:lnSpc>
                <a:spcPct val="110000"/>
              </a:lnSpc>
            </a:pPr>
            <a:r>
              <a:rPr sz="1700" b="1">
                <a:solidFill>
                  <a:srgbClr val="FFFFFF"/>
                </a:solidFill>
                <a:latin typeface="IBM Plex Sans"/>
              </a:rPr>
              <a:t>FAZA'A Plus</a:t>
            </a:r>
          </a:p>
        </p:txBody>
      </p:sp>
      <p:sp>
        <p:nvSpPr>
          <p:cNvPr id="13" name="TextBox 12"/>
          <p:cNvSpPr txBox="1"/>
          <p:nvPr/>
        </p:nvSpPr>
        <p:spPr>
          <a:xfrm>
            <a:off x="8275320" y="4361688"/>
            <a:ext cx="3108960" cy="457200"/>
          </a:xfrm>
          <a:prstGeom prst="rect">
            <a:avLst/>
          </a:prstGeom>
          <a:noFill/>
        </p:spPr>
        <p:txBody>
          <a:bodyPr wrap="square" lIns="0" rIns="0" tIns="0" bIns="0" anchor="t">
            <a:noAutofit/>
          </a:bodyPr>
          <a:lstStyle/>
          <a:p>
            <a:pPr algn="l">
              <a:lnSpc>
                <a:spcPct val="110000"/>
              </a:lnSpc>
            </a:pPr>
            <a:r>
              <a:rPr sz="2200" b="1">
                <a:solidFill>
                  <a:srgbClr val="FFFFFF"/>
                </a:solidFill>
                <a:latin typeface="IBM Plex Sans"/>
              </a:rPr>
              <a:t>79 </a:t>
            </a:r>
            <a:r>
              <a:rPr sz="1200" b="0">
                <a:solidFill>
                  <a:srgbClr val="E5E7EB"/>
                </a:solidFill>
                <a:latin typeface="IBM Plex Sans"/>
              </a:rPr>
              <a:t>SAR / month</a:t>
            </a:r>
          </a:p>
        </p:txBody>
      </p:sp>
      <p:sp>
        <p:nvSpPr>
          <p:cNvPr id="14" name="TextBox 13"/>
          <p:cNvSpPr txBox="1"/>
          <p:nvPr/>
        </p:nvSpPr>
        <p:spPr>
          <a:xfrm>
            <a:off x="8275320" y="5020056"/>
            <a:ext cx="3108960" cy="365760"/>
          </a:xfrm>
          <a:prstGeom prst="rect">
            <a:avLst/>
          </a:prstGeom>
          <a:noFill/>
        </p:spPr>
        <p:txBody>
          <a:bodyPr wrap="square" lIns="0" rIns="0" tIns="0" bIns="0" anchor="t">
            <a:noAutofit/>
          </a:bodyPr>
          <a:lstStyle/>
          <a:p>
            <a:pPr algn="l">
              <a:lnSpc>
                <a:spcPct val="110000"/>
              </a:lnSpc>
            </a:pPr>
            <a:r>
              <a:rPr sz="1700" b="1">
                <a:solidFill>
                  <a:srgbClr val="FFFFFF"/>
                </a:solidFill>
                <a:latin typeface="IBM Plex Sans"/>
              </a:rPr>
              <a:t>Business Fleet</a:t>
            </a:r>
          </a:p>
        </p:txBody>
      </p:sp>
      <p:sp>
        <p:nvSpPr>
          <p:cNvPr id="15" name="TextBox 14"/>
          <p:cNvSpPr txBox="1"/>
          <p:nvPr/>
        </p:nvSpPr>
        <p:spPr>
          <a:xfrm>
            <a:off x="8275320" y="5385816"/>
            <a:ext cx="3108960" cy="457200"/>
          </a:xfrm>
          <a:prstGeom prst="rect">
            <a:avLst/>
          </a:prstGeom>
          <a:noFill/>
        </p:spPr>
        <p:txBody>
          <a:bodyPr wrap="square" lIns="0" rIns="0" tIns="0" bIns="0" anchor="t">
            <a:noAutofit/>
          </a:bodyPr>
          <a:lstStyle/>
          <a:p>
            <a:pPr algn="l">
              <a:lnSpc>
                <a:spcPct val="110000"/>
              </a:lnSpc>
            </a:pPr>
            <a:r>
              <a:rPr sz="2200" b="1">
                <a:solidFill>
                  <a:srgbClr val="FFFFFF"/>
                </a:solidFill>
                <a:latin typeface="IBM Plex Sans"/>
              </a:rPr>
              <a:t>1,490 </a:t>
            </a:r>
            <a:r>
              <a:rPr sz="1200" b="0">
                <a:solidFill>
                  <a:srgbClr val="E5E7EB"/>
                </a:solidFill>
                <a:latin typeface="IBM Plex Sans"/>
              </a:rPr>
              <a:t>SAR / vehicle / year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316"/>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11274552" y="274320"/>
            <a:ext cx="527830" cy="566928"/>
          </a:xfrm>
          <a:prstGeom prst="rect">
            <a:avLst/>
          </a:prstGeom>
        </p:spPr>
      </p:pic>
      <p:sp>
        <p:nvSpPr>
          <p:cNvPr id="3" name="TextBox 2"/>
          <p:cNvSpPr txBox="1"/>
          <p:nvPr/>
        </p:nvSpPr>
        <p:spPr>
          <a:xfrm>
            <a:off x="11155680" y="6355080"/>
            <a:ext cx="731520" cy="274320"/>
          </a:xfrm>
          <a:prstGeom prst="rect">
            <a:avLst/>
          </a:prstGeom>
          <a:noFill/>
        </p:spPr>
        <p:txBody>
          <a:bodyPr wrap="square" lIns="0" rIns="0" tIns="0" bIns="0" anchor="t">
            <a:noAutofit/>
          </a:bodyPr>
          <a:lstStyle/>
          <a:p>
            <a:pPr algn="r">
              <a:lnSpc>
                <a:spcPct val="110000"/>
              </a:lnSpc>
            </a:pPr>
            <a:r>
              <a:rPr sz="1200" b="0">
                <a:solidFill>
                  <a:srgbClr val="E5E7EB"/>
                </a:solidFill>
                <a:latin typeface="IBM Plex Sans"/>
              </a:rPr>
              <a:t>10</a:t>
            </a:r>
          </a:p>
        </p:txBody>
      </p:sp>
      <p:sp>
        <p:nvSpPr>
          <p:cNvPr id="4" name="Rectangle 3"/>
          <p:cNvSpPr/>
          <p:nvPr/>
        </p:nvSpPr>
        <p:spPr>
          <a:xfrm>
            <a:off x="0" y="0"/>
            <a:ext cx="164592" cy="6858000"/>
          </a:xfrm>
          <a:prstGeom prst="rect">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822960"/>
            <a:ext cx="5943600" cy="365760"/>
          </a:xfrm>
          <a:prstGeom prst="rect">
            <a:avLst/>
          </a:prstGeom>
          <a:noFill/>
        </p:spPr>
        <p:txBody>
          <a:bodyPr wrap="square" lIns="0" rIns="0" tIns="0" bIns="0" anchor="t">
            <a:noAutofit/>
          </a:bodyPr>
          <a:lstStyle/>
          <a:p>
            <a:pPr algn="l">
              <a:lnSpc>
                <a:spcPct val="110000"/>
              </a:lnSpc>
            </a:pPr>
            <a:r>
              <a:rPr sz="1400" b="1">
                <a:solidFill>
                  <a:srgbClr val="9E1B20"/>
                </a:solidFill>
                <a:latin typeface="IBM Plex Sans"/>
              </a:rPr>
              <a:t>EXPERIENCE FAZA'A NOW</a:t>
            </a:r>
          </a:p>
        </p:txBody>
      </p:sp>
      <p:sp>
        <p:nvSpPr>
          <p:cNvPr id="6" name="TextBox 5"/>
          <p:cNvSpPr txBox="1"/>
          <p:nvPr/>
        </p:nvSpPr>
        <p:spPr>
          <a:xfrm>
            <a:off x="731520" y="1280160"/>
            <a:ext cx="6035040" cy="1645920"/>
          </a:xfrm>
          <a:prstGeom prst="rect">
            <a:avLst/>
          </a:prstGeom>
          <a:noFill/>
        </p:spPr>
        <p:txBody>
          <a:bodyPr wrap="square" lIns="0" rIns="0" tIns="0" bIns="0" anchor="t">
            <a:noAutofit/>
          </a:bodyPr>
          <a:lstStyle/>
          <a:p>
            <a:pPr algn="l">
              <a:lnSpc>
                <a:spcPct val="100000"/>
              </a:lnSpc>
            </a:pPr>
            <a:r>
              <a:rPr sz="4400" b="1">
                <a:solidFill>
                  <a:srgbClr val="FFFFFF"/>
                </a:solidFill>
                <a:latin typeface="IBM Plex Sans"/>
              </a:rPr>
              <a:t>Scan to open the
live mobile app</a:t>
            </a:r>
          </a:p>
        </p:txBody>
      </p:sp>
      <p:sp>
        <p:nvSpPr>
          <p:cNvPr id="7" name="Oval 6"/>
          <p:cNvSpPr/>
          <p:nvPr/>
        </p:nvSpPr>
        <p:spPr>
          <a:xfrm>
            <a:off x="731520" y="3246120"/>
            <a:ext cx="438912" cy="438912"/>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46120"/>
            <a:ext cx="438912" cy="438912"/>
          </a:xfrm>
          <a:prstGeom prst="rect">
            <a:avLst/>
          </a:prstGeom>
          <a:noFill/>
        </p:spPr>
        <p:txBody>
          <a:bodyPr wrap="square" lIns="0" rIns="0" tIns="0" bIns="0" anchor="ctr">
            <a:noAutofit/>
          </a:bodyPr>
          <a:lstStyle/>
          <a:p>
            <a:pPr algn="ctr">
              <a:lnSpc>
                <a:spcPct val="110000"/>
              </a:lnSpc>
            </a:pPr>
            <a:r>
              <a:rPr sz="1500" b="1">
                <a:solidFill>
                  <a:srgbClr val="FFFFFF"/>
                </a:solidFill>
                <a:latin typeface="IBM Plex Sans"/>
              </a:rPr>
              <a:t>1</a:t>
            </a:r>
          </a:p>
        </p:txBody>
      </p:sp>
      <p:sp>
        <p:nvSpPr>
          <p:cNvPr id="9" name="TextBox 8"/>
          <p:cNvSpPr txBox="1"/>
          <p:nvPr/>
        </p:nvSpPr>
        <p:spPr>
          <a:xfrm>
            <a:off x="1371600" y="3291839"/>
            <a:ext cx="5029200" cy="365760"/>
          </a:xfrm>
          <a:prstGeom prst="rect">
            <a:avLst/>
          </a:prstGeom>
          <a:noFill/>
        </p:spPr>
        <p:txBody>
          <a:bodyPr wrap="square" lIns="0" rIns="0" tIns="0" bIns="0" anchor="t">
            <a:noAutofit/>
          </a:bodyPr>
          <a:lstStyle/>
          <a:p>
            <a:pPr algn="l">
              <a:lnSpc>
                <a:spcPct val="110000"/>
              </a:lnSpc>
            </a:pPr>
            <a:r>
              <a:rPr sz="1800" b="0">
                <a:solidFill>
                  <a:srgbClr val="E5E7EB"/>
                </a:solidFill>
                <a:latin typeface="IBM Plex Sans"/>
              </a:rPr>
              <a:t>Open your phone camera</a:t>
            </a:r>
          </a:p>
        </p:txBody>
      </p:sp>
      <p:sp>
        <p:nvSpPr>
          <p:cNvPr id="10" name="Oval 9"/>
          <p:cNvSpPr/>
          <p:nvPr/>
        </p:nvSpPr>
        <p:spPr>
          <a:xfrm>
            <a:off x="731520" y="3904487"/>
            <a:ext cx="438912" cy="438912"/>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904487"/>
            <a:ext cx="438912" cy="438912"/>
          </a:xfrm>
          <a:prstGeom prst="rect">
            <a:avLst/>
          </a:prstGeom>
          <a:noFill/>
        </p:spPr>
        <p:txBody>
          <a:bodyPr wrap="square" lIns="0" rIns="0" tIns="0" bIns="0" anchor="ctr">
            <a:noAutofit/>
          </a:bodyPr>
          <a:lstStyle/>
          <a:p>
            <a:pPr algn="ctr">
              <a:lnSpc>
                <a:spcPct val="110000"/>
              </a:lnSpc>
            </a:pPr>
            <a:r>
              <a:rPr sz="1500" b="1">
                <a:solidFill>
                  <a:srgbClr val="FFFFFF"/>
                </a:solidFill>
                <a:latin typeface="IBM Plex Sans"/>
              </a:rPr>
              <a:t>2</a:t>
            </a:r>
          </a:p>
        </p:txBody>
      </p:sp>
      <p:sp>
        <p:nvSpPr>
          <p:cNvPr id="12" name="TextBox 11"/>
          <p:cNvSpPr txBox="1"/>
          <p:nvPr/>
        </p:nvSpPr>
        <p:spPr>
          <a:xfrm>
            <a:off x="1371600" y="3950207"/>
            <a:ext cx="5029200" cy="365760"/>
          </a:xfrm>
          <a:prstGeom prst="rect">
            <a:avLst/>
          </a:prstGeom>
          <a:noFill/>
        </p:spPr>
        <p:txBody>
          <a:bodyPr wrap="square" lIns="0" rIns="0" tIns="0" bIns="0" anchor="t">
            <a:noAutofit/>
          </a:bodyPr>
          <a:lstStyle/>
          <a:p>
            <a:pPr algn="l">
              <a:lnSpc>
                <a:spcPct val="110000"/>
              </a:lnSpc>
            </a:pPr>
            <a:r>
              <a:rPr sz="1800" b="0">
                <a:solidFill>
                  <a:srgbClr val="E5E7EB"/>
                </a:solidFill>
                <a:latin typeface="IBM Plex Sans"/>
              </a:rPr>
              <a:t>Point it at the code</a:t>
            </a:r>
          </a:p>
        </p:txBody>
      </p:sp>
      <p:sp>
        <p:nvSpPr>
          <p:cNvPr id="13" name="Oval 12"/>
          <p:cNvSpPr/>
          <p:nvPr/>
        </p:nvSpPr>
        <p:spPr>
          <a:xfrm>
            <a:off x="731520" y="4562856"/>
            <a:ext cx="438912" cy="438912"/>
          </a:xfrm>
          <a:prstGeom prst="ellipse">
            <a:avLst/>
          </a:prstGeom>
          <a:solidFill>
            <a:srgbClr val="9E1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562856"/>
            <a:ext cx="438912" cy="438912"/>
          </a:xfrm>
          <a:prstGeom prst="rect">
            <a:avLst/>
          </a:prstGeom>
          <a:noFill/>
        </p:spPr>
        <p:txBody>
          <a:bodyPr wrap="square" lIns="0" rIns="0" tIns="0" bIns="0" anchor="ctr">
            <a:noAutofit/>
          </a:bodyPr>
          <a:lstStyle/>
          <a:p>
            <a:pPr algn="ctr">
              <a:lnSpc>
                <a:spcPct val="110000"/>
              </a:lnSpc>
            </a:pPr>
            <a:r>
              <a:rPr sz="1500" b="1">
                <a:solidFill>
                  <a:srgbClr val="FFFFFF"/>
                </a:solidFill>
                <a:latin typeface="IBM Plex Sans"/>
              </a:rPr>
              <a:t>3</a:t>
            </a:r>
          </a:p>
        </p:txBody>
      </p:sp>
      <p:sp>
        <p:nvSpPr>
          <p:cNvPr id="15" name="TextBox 14"/>
          <p:cNvSpPr txBox="1"/>
          <p:nvPr/>
        </p:nvSpPr>
        <p:spPr>
          <a:xfrm>
            <a:off x="1371600" y="4608576"/>
            <a:ext cx="5029200" cy="365760"/>
          </a:xfrm>
          <a:prstGeom prst="rect">
            <a:avLst/>
          </a:prstGeom>
          <a:noFill/>
        </p:spPr>
        <p:txBody>
          <a:bodyPr wrap="square" lIns="0" rIns="0" tIns="0" bIns="0" anchor="t">
            <a:noAutofit/>
          </a:bodyPr>
          <a:lstStyle/>
          <a:p>
            <a:pPr algn="l">
              <a:lnSpc>
                <a:spcPct val="110000"/>
              </a:lnSpc>
            </a:pPr>
            <a:r>
              <a:rPr sz="1800" b="0">
                <a:solidFill>
                  <a:srgbClr val="E5E7EB"/>
                </a:solidFill>
                <a:latin typeface="IBM Plex Sans"/>
              </a:rPr>
              <a:t>Tap the link and press Request Fazaa Now</a:t>
            </a:r>
          </a:p>
        </p:txBody>
      </p:sp>
      <p:sp>
        <p:nvSpPr>
          <p:cNvPr id="16" name="TextBox 15"/>
          <p:cNvSpPr txBox="1"/>
          <p:nvPr/>
        </p:nvSpPr>
        <p:spPr>
          <a:xfrm>
            <a:off x="731520" y="5486400"/>
            <a:ext cx="5943600" cy="365760"/>
          </a:xfrm>
          <a:prstGeom prst="rect">
            <a:avLst/>
          </a:prstGeom>
          <a:noFill/>
        </p:spPr>
        <p:txBody>
          <a:bodyPr wrap="square" lIns="0" rIns="0" tIns="0" bIns="0" anchor="t">
            <a:noAutofit/>
          </a:bodyPr>
          <a:lstStyle/>
          <a:p>
            <a:pPr algn="l">
              <a:lnSpc>
                <a:spcPct val="110000"/>
              </a:lnSpc>
            </a:pPr>
            <a:r>
              <a:rPr sz="1800" b="1">
                <a:solidFill>
                  <a:srgbClr val="FFFFFF"/>
                </a:solidFill>
                <a:latin typeface="IBM Plex Sans"/>
              </a:rPr>
              <a:t>fazaa-app-rose.vercel.app</a:t>
            </a:r>
          </a:p>
        </p:txBody>
      </p:sp>
      <p:sp>
        <p:nvSpPr>
          <p:cNvPr id="17" name="Rounded Rectangle 16"/>
          <p:cNvSpPr/>
          <p:nvPr/>
        </p:nvSpPr>
        <p:spPr>
          <a:xfrm>
            <a:off x="7269480" y="960120"/>
            <a:ext cx="4251960" cy="42519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qr.png"/>
          <p:cNvPicPr>
            <a:picLocks noChangeAspect="1"/>
          </p:cNvPicPr>
          <p:nvPr/>
        </p:nvPicPr>
        <p:blipFill>
          <a:blip r:embed="rId3"/>
          <a:stretch>
            <a:fillRect/>
          </a:stretch>
        </p:blipFill>
        <p:spPr>
          <a:xfrm>
            <a:off x="7498079" y="1188720"/>
            <a:ext cx="3794760" cy="3794760"/>
          </a:xfrm>
          <a:prstGeom prst="rect">
            <a:avLst/>
          </a:prstGeom>
        </p:spPr>
      </p:pic>
      <p:sp>
        <p:nvSpPr>
          <p:cNvPr id="19" name="TextBox 18"/>
          <p:cNvSpPr txBox="1"/>
          <p:nvPr/>
        </p:nvSpPr>
        <p:spPr>
          <a:xfrm>
            <a:off x="7269480" y="5394960"/>
            <a:ext cx="4251960" cy="365760"/>
          </a:xfrm>
          <a:prstGeom prst="rect">
            <a:avLst/>
          </a:prstGeom>
          <a:noFill/>
        </p:spPr>
        <p:txBody>
          <a:bodyPr wrap="square" lIns="0" rIns="0" tIns="0" bIns="0" anchor="t">
            <a:noAutofit/>
          </a:bodyPr>
          <a:lstStyle/>
          <a:p>
            <a:pPr algn="ctr">
              <a:lnSpc>
                <a:spcPct val="110000"/>
              </a:lnSpc>
            </a:pPr>
            <a:r>
              <a:rPr sz="1400" b="0">
                <a:solidFill>
                  <a:srgbClr val="E5E7EB"/>
                </a:solidFill>
                <a:latin typeface="IBM Plex Sans"/>
              </a:rPr>
              <a:t>Works in Arabic and English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FAZA'A — Road Assistance &amp; Car Delivery</dc:title>
  <dc:subject/>
  <dc:creator>Nawaf Fahad Alharbi</dc:creator>
  <cp:keywords/>
  <dc:description>generated using python-pptx</dc:description>
  <cp:lastModifiedBy>Nawaf Fahad Alharbi</cp:lastModifiedBy>
  <cp:revision>1</cp:revision>
  <dcterms:created xsi:type="dcterms:W3CDTF">2013-01-27T09:14:16Z</dcterms:created>
  <dcterms:modified xsi:type="dcterms:W3CDTF">2013-01-27T09:15:58Z</dcterms:modified>
  <cp:category/>
</cp:coreProperties>
</file>